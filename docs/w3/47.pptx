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4" r:id="rId25"/>
    <p:sldId id="275" r:id="rId26"/>
    <p:sldId id="276" r:id="rId27"/>
    <p:sldId id="280" r:id="rId29"/>
    <p:sldId id="277" r:id="rId28"/>
    <p:sldId id="281" r:id="rId31"/>
    <p:sldId id="279" r:id="rId30"/>
    <p:sldId id="259" r:id="rId5"/>
    <p:sldId id="260" r:id="rId6"/>
    <p:sldId id="261" r:id="rId7"/>
    <p:sldId id="262" r:id="rId8"/>
    <p:sldId id="263" r:id="rId9"/>
    <p:sldId id="264" r:id="rId10"/>
    <p:sldId id="268" r:id="rId19"/>
    <p:sldId id="269" r:id="rId20"/>
    <p:sldId id="270" r:id="rId21"/>
    <p:sldId id="271" r:id="rId22"/>
    <p:sldId id="272" r:id="rId23"/>
    <p:sldId id="273" r:id="rId24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10.xml"/><Relationship Id="rId6" Type="http://schemas.openxmlformats.org/officeDocument/2006/relationships/slide" Target="slides/slide11.xml"/><Relationship Id="rId7" Type="http://schemas.openxmlformats.org/officeDocument/2006/relationships/slide" Target="slides/slide12.xml"/><Relationship Id="rId8" Type="http://schemas.openxmlformats.org/officeDocument/2006/relationships/slide" Target="slides/slide13.xml"/><Relationship Id="rId9" Type="http://schemas.openxmlformats.org/officeDocument/2006/relationships/slide" Target="slides/slide14.xml"/><Relationship Id="rId10" Type="http://schemas.openxmlformats.org/officeDocument/2006/relationships/slide" Target="slides/slide15.xml"/><Relationship Id="rId11" Type="http://schemas.openxmlformats.org/officeDocument/2006/relationships/slide" Target="slides/slide22.xml"/><Relationship Id="rId12" Type="http://schemas.openxmlformats.org/officeDocument/2006/relationships/slide" Target="slides/slide23.xml"/><Relationship Id="rId13" Type="http://schemas.openxmlformats.org/officeDocument/2006/relationships/slide" Target="slides/slide24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8.xml"/><Relationship Id="rId29" Type="http://schemas.openxmlformats.org/officeDocument/2006/relationships/slide" Target="slides/slide7.xml"/><Relationship Id="rId30" Type="http://schemas.openxmlformats.org/officeDocument/2006/relationships/slide" Target="slides/slide9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394960"/>
            <a:ext cx="12161520" cy="1463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MBC 미디어캠퍼스 · AI 기반 데이터 저널리스트 양성 과정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도메인에 맞는 뉴스 세팅하기 (2/3)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수집과 정제, 직접 해보기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26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수집(구글시트 + Colab API) → ③ 정제(AI 챗봇) 순서로 실습합니다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도메인에 맞는 뉴스 세팅하기  120h 중 2/3(40h)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학습 목표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실습: 시트와 코드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검색의 한계를 확인하고, 구글시트 함수와 Colab API 호출 코드(AI와 함께 작성·실행)로 직접 수집한다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5720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챗봇 정제 실습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2주차에 만든 도메인 챗봇(Gemini Gems·Claude Projects)으로 수집한 원자료를 다듬어 콘텐츠로 완성한다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7532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2753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연결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수집→정제가 실제로 어떻게 이어지는지 손으로 직접 확인한다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복습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이번주는 ②③단계를 직접 해봅니다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663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2주차에서 개념으로 배운 두 단계를, 이번주는 실제 데이터로 손을 움직여 직접 실습합니다.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1" name="Box 1"/>
          <p:cNvSpPr/>
          <p:nvPr/>
        </p:nvSpPr>
        <p:spPr>
          <a:xfrm>
            <a:off x="548640" y="2834640"/>
            <a:ext cx="1361149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202" name="Name 1"/>
          <p:cNvSpPr txBox="1"/>
          <p:nvPr/>
        </p:nvSpPr>
        <p:spPr>
          <a:xfrm>
            <a:off x="548640" y="3246120"/>
            <a:ext cx="1361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기획</a:t>
            </a:r>
            <a:endParaRPr lang="en-US" sz="1250" dirty="0"/>
          </a:p>
        </p:txBody>
      </p:sp>
      <p:sp>
        <p:nvSpPr>
          <p:cNvPr id="203" name="Arrow 1"/>
          <p:cNvSpPr txBox="1"/>
          <p:nvPr/>
        </p:nvSpPr>
        <p:spPr>
          <a:xfrm>
            <a:off x="1909789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204" name="Box 2"/>
          <p:cNvSpPr/>
          <p:nvPr/>
        </p:nvSpPr>
        <p:spPr>
          <a:xfrm>
            <a:off x="2165821" y="2834640"/>
            <a:ext cx="1361149" cy="1371600"/>
          </a:xfrm>
          <a:prstGeom prst="roundRect">
            <a:avLst>
              <a:gd name="adj" fmla="val 4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205" name="Name 2"/>
          <p:cNvSpPr txBox="1"/>
          <p:nvPr/>
        </p:nvSpPr>
        <p:spPr>
          <a:xfrm>
            <a:off x="2165821" y="3108960"/>
            <a:ext cx="1361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수집</a:t>
            </a:r>
            <a:endParaRPr lang="en-US" sz="1250" dirty="0"/>
          </a:p>
        </p:txBody>
      </p:sp>
      <p:sp>
        <p:nvSpPr>
          <p:cNvPr id="206" name="Tools 2"/>
          <p:cNvSpPr txBox="1"/>
          <p:nvPr/>
        </p:nvSpPr>
        <p:spPr>
          <a:xfrm>
            <a:off x="2165821" y="3611880"/>
            <a:ext cx="1361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구글시트 IMPORTXML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파이썬(Colab)</a:t>
            </a:r>
            <a:endParaRPr lang="en-US" sz="1000" dirty="0"/>
          </a:p>
        </p:txBody>
      </p:sp>
      <p:sp>
        <p:nvSpPr>
          <p:cNvPr id="207" name="Arrow 2"/>
          <p:cNvSpPr txBox="1"/>
          <p:nvPr/>
        </p:nvSpPr>
        <p:spPr>
          <a:xfrm>
            <a:off x="3526970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208" name="Box 3"/>
          <p:cNvSpPr/>
          <p:nvPr/>
        </p:nvSpPr>
        <p:spPr>
          <a:xfrm>
            <a:off x="3783002" y="2834640"/>
            <a:ext cx="1361149" cy="1371600"/>
          </a:xfrm>
          <a:prstGeom prst="roundRect">
            <a:avLst>
              <a:gd name="adj" fmla="val 4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209" name="Name 3"/>
          <p:cNvSpPr txBox="1"/>
          <p:nvPr/>
        </p:nvSpPr>
        <p:spPr>
          <a:xfrm>
            <a:off x="3783002" y="3108960"/>
            <a:ext cx="1361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정제</a:t>
            </a:r>
            <a:endParaRPr lang="en-US" sz="1250" dirty="0"/>
          </a:p>
        </p:txBody>
      </p:sp>
      <p:sp>
        <p:nvSpPr>
          <p:cNvPr id="210" name="Tools 3"/>
          <p:cNvSpPr txBox="1"/>
          <p:nvPr/>
        </p:nvSpPr>
        <p:spPr>
          <a:xfrm>
            <a:off x="3783002" y="3611880"/>
            <a:ext cx="1361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표: 시트 함수·Colab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글: 2주차 도메인 챗봇</a:t>
            </a:r>
            <a:endParaRPr lang="en-US" sz="1000" dirty="0"/>
          </a:p>
        </p:txBody>
      </p:sp>
      <p:sp>
        <p:nvSpPr>
          <p:cNvPr id="211" name="Arrow 3"/>
          <p:cNvSpPr txBox="1"/>
          <p:nvPr/>
        </p:nvSpPr>
        <p:spPr>
          <a:xfrm>
            <a:off x="5144151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212" name="Box 4"/>
          <p:cNvSpPr/>
          <p:nvPr/>
        </p:nvSpPr>
        <p:spPr>
          <a:xfrm>
            <a:off x="5400183" y="2834640"/>
            <a:ext cx="1361149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213" name="Name 4"/>
          <p:cNvSpPr txBox="1"/>
          <p:nvPr/>
        </p:nvSpPr>
        <p:spPr>
          <a:xfrm>
            <a:off x="5400183" y="3246120"/>
            <a:ext cx="1361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인사이트 분석</a:t>
            </a:r>
            <a:endParaRPr lang="en-US" sz="1250" dirty="0"/>
          </a:p>
        </p:txBody>
      </p:sp>
      <p:sp>
        <p:nvSpPr>
          <p:cNvPr id="214" name="Arrow 4"/>
          <p:cNvSpPr txBox="1"/>
          <p:nvPr/>
        </p:nvSpPr>
        <p:spPr>
          <a:xfrm>
            <a:off x="6761332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215" name="Box 5"/>
          <p:cNvSpPr/>
          <p:nvPr/>
        </p:nvSpPr>
        <p:spPr>
          <a:xfrm>
            <a:off x="7017364" y="2834640"/>
            <a:ext cx="1361149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216" name="Name 5"/>
          <p:cNvSpPr txBox="1"/>
          <p:nvPr/>
        </p:nvSpPr>
        <p:spPr>
          <a:xfrm>
            <a:off x="7017364" y="3246120"/>
            <a:ext cx="1361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 팩트체크</a:t>
            </a:r>
            <a:endParaRPr lang="en-US" sz="1250" dirty="0"/>
          </a:p>
        </p:txBody>
      </p:sp>
      <p:sp>
        <p:nvSpPr>
          <p:cNvPr id="217" name="Arrow 5"/>
          <p:cNvSpPr txBox="1"/>
          <p:nvPr/>
        </p:nvSpPr>
        <p:spPr>
          <a:xfrm>
            <a:off x="8378513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218" name="Box 6"/>
          <p:cNvSpPr/>
          <p:nvPr/>
        </p:nvSpPr>
        <p:spPr>
          <a:xfrm>
            <a:off x="8634545" y="2834640"/>
            <a:ext cx="1361149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219" name="Name 6"/>
          <p:cNvSpPr txBox="1"/>
          <p:nvPr/>
        </p:nvSpPr>
        <p:spPr>
          <a:xfrm>
            <a:off x="8634545" y="3246120"/>
            <a:ext cx="1361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⑥ 스크립트화</a:t>
            </a:r>
            <a:endParaRPr lang="en-US" sz="1250" dirty="0"/>
          </a:p>
        </p:txBody>
      </p:sp>
      <p:sp>
        <p:nvSpPr>
          <p:cNvPr id="220" name="Arrow 6"/>
          <p:cNvSpPr txBox="1"/>
          <p:nvPr/>
        </p:nvSpPr>
        <p:spPr>
          <a:xfrm>
            <a:off x="9995694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221" name="Box 7"/>
          <p:cNvSpPr/>
          <p:nvPr/>
        </p:nvSpPr>
        <p:spPr>
          <a:xfrm>
            <a:off x="10251726" y="2834640"/>
            <a:ext cx="1361149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222" name="Name 7"/>
          <p:cNvSpPr txBox="1"/>
          <p:nvPr/>
        </p:nvSpPr>
        <p:spPr>
          <a:xfrm>
            <a:off x="10251726" y="3246120"/>
            <a:ext cx="1361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⑦ 영상화</a:t>
            </a:r>
            <a:endParaRPr lang="en-US" sz="1250" dirty="0"/>
          </a:p>
        </p:txBody>
      </p:sp>
      <p:sp>
        <p:nvSpPr>
          <p:cNvPr id="223" name="Rectangle 222"/>
          <p:cNvSpPr/>
          <p:nvPr/>
        </p:nvSpPr>
        <p:spPr>
          <a:xfrm>
            <a:off x="548640" y="5300000"/>
            <a:ext cx="10972800" cy="1150000"/>
          </a:xfrm>
          <a:prstGeom prst="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rIns="200000" tIns="90000" bIns="9000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83A4A"/>
                </a:solidFill>
                <a:latin typeface="Calibri"/>
              </a:rPr>
              <a:t>왜 AI 검색이 아니라 직접 수집하는가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F2560"/>
                </a:solidFill>
                <a:latin typeface="Calibri"/>
              </a:rPr>
              <a:t>AI 검색은 답을 요약·재서술해서 보여 줍니다. 그 과정에서 틀릴 수 있습니다 — 오늘 직접 비교해 확인합니다.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F2560"/>
                </a:solidFill>
                <a:latin typeface="Calibri"/>
              </a:rPr>
              <a:t>직접 수집은 원문을 그대로 가져오고 출처·수집일시가 남아, 오류가 생겨도 어디서 틀렸는지 점검할 수 있습니다.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F2560"/>
                </a:solidFill>
                <a:latin typeface="Calibri"/>
              </a:rPr>
              <a:t>AI 검색은 후보를 찾는 용도, 직접 수집은 근거를 확보하는 용도입니다.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① · 출처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어디서 찾을까 — 출처는 3가지로 나눈다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출처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47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법령·판결·통계·공식 발표 — 근거는 여기서 확인한다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486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883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언론 보도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8833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맥락·현황 파악용 — 날짜와 원문 링크를 함께 확인한다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4864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95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해설·SNS·커뮤니티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529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단서로만 사용 — 반드시 1차 출처로 되짚어 확인한다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② · 질문 요령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검색, 질문은 이렇게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문장으로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47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알고 싶은지 한 문장으로 쓴다 (기획서의 What)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486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883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기간·범위 정하기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8833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‘최근 1년’, ‘한국’처럼 기준 날짜와 범위를 적는다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4864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95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요구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529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유형(공식 기관·언론)과 링크를 함께 달라고 한다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4864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0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모르면 모른다고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3708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확실하지 않은 내용은 ‘확인 불가’로 표시하게 한다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4864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사실과 해석 구분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212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답은 출처를 열어 확인하기 전까지 ‘후보’일 뿐이다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③ · AI 검색 도구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검색 도구 3종과 프롬프트 예시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77240" y="1901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04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문장마다 번호 출처 · 포커스 모드(웹·학술 등)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044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Liner (라이너)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47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 문장별 출처 · 학술논문·기간 필터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777240" y="4187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Felo (펠로)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90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정보 수집 · 다국어 지원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5303520" cy="3429000"/>
          </a:xfrm>
          <a:prstGeom prst="roundRect">
            <a:avLst>
              <a:gd name="adj" fmla="val 16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58368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예시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69748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[내 주제]에 대해 최근 1년 이내 자료만 찾아줘.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기관·언론 출처를 링크와 함께 표로 정리하고, 확실하지 않은 내용은 ‘확인 불가’로 표시해줘.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도구는 후보를 찾아 줄 뿐, 사실을 보증하지 않습니다.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④ · 예시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예시 — 같은 질문, 이렇게 확인한다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Rectangle 24"/>
          <p:cNvSpPr/>
          <p:nvPr/>
        </p:nvSpPr>
        <p:spPr>
          <a:xfrm>
            <a:off x="548640" y="1600200"/>
            <a:ext cx="11064240" cy="900000"/>
          </a:xfrm>
          <a:prstGeom prst="rect">
            <a:avLst/>
          </a:prstGeom>
          <a:solidFill>
            <a:srgbClr val="F4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rIns="200000"/>
          <a:lstStyle/>
          <a:p>
            <a:pPr algn="l"/>
            <a:r>
              <a:rPr sz="1200" b="1">
                <a:solidFill>
                  <a:srgbClr val="E83A4A"/>
                </a:solidFill>
                <a:latin typeface="Calibri"/>
              </a:rPr>
              <a:t>입력한 질문</a:t>
            </a:r>
          </a:p>
          <a:p>
            <a:pPr algn="l"/>
            <a:r>
              <a:rPr sz="1400" b="0">
                <a:solidFill>
                  <a:srgbClr val="1F2560"/>
                </a:solidFill>
                <a:latin typeface="Calibri"/>
              </a:rPr>
              <a:t>2026년 적용 최저임금에 대해 최근 1년 이내 자료만 찾아줘. 공식 기관·언론 출처를 링크와 함께 표로 정리하고, 확실하지 않은 내용은 ‘확인 불가’로 표시해줘.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2700000"/>
          <a:ext cx="11064240" cy="2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3600000"/>
                <a:gridCol w="2300000"/>
                <a:gridCol w="366424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확인 항목</a:t>
                      </a:r>
                    </a:p>
                  </a:txBody>
                  <a:tcPr marL="90000" marR="90000" anchor="ctr">
                    <a:solidFill>
                      <a:srgbClr val="1F25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검색에서 나온 내용</a:t>
                      </a:r>
                    </a:p>
                  </a:txBody>
                  <a:tcPr marL="90000" marR="90000" anchor="ctr">
                    <a:solidFill>
                      <a:srgbClr val="1F25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출처 (날짜)</a:t>
                      </a:r>
                    </a:p>
                  </a:txBody>
                  <a:tcPr marL="90000" marR="90000" anchor="ctr">
                    <a:solidFill>
                      <a:srgbClr val="1F25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내가 확인한 것</a:t>
                      </a:r>
                    </a:p>
                  </a:txBody>
                  <a:tcPr marL="90000" marR="90000" anchor="ctr">
                    <a:solidFill>
                      <a:srgbClr val="1F2560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560"/>
                          </a:solidFill>
                          <a:latin typeface="Calibri"/>
                        </a:rPr>
                        <a:t>시간급</a:t>
                      </a:r>
                    </a:p>
                  </a:txBody>
                  <a:tcPr marL="90000" marR="90000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560"/>
                          </a:solidFill>
                          <a:latin typeface="Calibri"/>
                        </a:rPr>
                        <a:t>10,320원 (전년 대비 2.9% 인상)</a:t>
                      </a:r>
                    </a:p>
                  </a:txBody>
                  <a:tcPr marL="90000" marR="90000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560"/>
                          </a:solidFill>
                          <a:latin typeface="Calibri"/>
                        </a:rPr>
                        <a:t>언론 보도 (2025.7.11)</a:t>
                      </a:r>
                    </a:p>
                  </a:txBody>
                  <a:tcPr marL="90000" marR="90000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560"/>
                          </a:solidFill>
                          <a:latin typeface="Calibri"/>
                        </a:rPr>
                        <a:t>보도마다 같은 숫자 ✔</a:t>
                      </a:r>
                    </a:p>
                  </a:txBody>
                  <a:tcPr marL="90000" marR="90000" anchor="ctr">
                    <a:solidFill>
                      <a:srgbClr val="F4F5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560"/>
                          </a:solidFill>
                          <a:latin typeface="Calibri"/>
                        </a:rPr>
                        <a:t>월 환산액</a:t>
                      </a:r>
                    </a:p>
                  </a:txBody>
                  <a:tcPr marL="90000" marR="9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560"/>
                          </a:solidFill>
                          <a:latin typeface="Calibri"/>
                        </a:rPr>
                        <a:t>2,156,880원</a:t>
                      </a:r>
                    </a:p>
                  </a:txBody>
                  <a:tcPr marL="90000" marR="9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560"/>
                          </a:solidFill>
                          <a:latin typeface="Calibri"/>
                        </a:rPr>
                        <a:t>언론 보도 (2025.7.11)</a:t>
                      </a:r>
                    </a:p>
                  </a:txBody>
                  <a:tcPr marL="90000" marR="9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560"/>
                          </a:solidFill>
                          <a:latin typeface="Calibri"/>
                        </a:rPr>
                        <a:t>10,320원 × 209시간 = 2,156,880원 ✔ 직접 계산</a:t>
                      </a:r>
                    </a:p>
                  </a:txBody>
                  <a:tcPr marL="90000" marR="9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560"/>
                          </a:solidFill>
                          <a:latin typeface="Calibri"/>
                        </a:rPr>
                        <a:t>적용 연도</a:t>
                      </a:r>
                    </a:p>
                  </a:txBody>
                  <a:tcPr marL="90000" marR="90000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560"/>
                          </a:solidFill>
                          <a:latin typeface="Calibri"/>
                        </a:rPr>
                        <a:t>같은 검색에 2027년 적용 10,700원도 함께 나옴</a:t>
                      </a:r>
                    </a:p>
                  </a:txBody>
                  <a:tcPr marL="90000" marR="90000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560"/>
                          </a:solidFill>
                          <a:latin typeface="Calibri"/>
                        </a:rPr>
                        <a:t>언론 보도 (2026.7.15)</a:t>
                      </a:r>
                    </a:p>
                  </a:txBody>
                  <a:tcPr marL="90000" marR="90000" anchor="ctr">
                    <a:solidFill>
                      <a:srgbClr val="F4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560"/>
                          </a:solidFill>
                          <a:latin typeface="Calibri"/>
                        </a:rPr>
                        <a:t>연도가 섞임 — 2026년 적용분과 2027년 적용분을 구분</a:t>
                      </a:r>
                    </a:p>
                  </a:txBody>
                  <a:tcPr marL="90000" marR="90000" anchor="ctr">
                    <a:solidFill>
                      <a:srgbClr val="F4F5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560"/>
                          </a:solidFill>
                          <a:latin typeface="Calibri"/>
                        </a:rPr>
                        <a:t>공식 출처</a:t>
                      </a:r>
                    </a:p>
                  </a:txBody>
                  <a:tcPr marL="90000" marR="9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560"/>
                          </a:solidFill>
                          <a:latin typeface="Calibri"/>
                        </a:rPr>
                        <a:t>고용노동부 보도자료·고시 페이지가 검색됨</a:t>
                      </a:r>
                    </a:p>
                  </a:txBody>
                  <a:tcPr marL="90000" marR="9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560"/>
                          </a:solidFill>
                          <a:latin typeface="Calibri"/>
                        </a:rPr>
                        <a:t>고용노동부 누리집</a:t>
                      </a:r>
                    </a:p>
                  </a:txBody>
                  <a:tcPr marL="90000" marR="9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560"/>
                          </a:solidFill>
                          <a:latin typeface="Calibri"/>
                        </a:rPr>
                        <a:t>본문은 열어서 직접 대조 (자동 접근 제한 사이트)</a:t>
                      </a:r>
                    </a:p>
                  </a:txBody>
                  <a:tcPr marL="90000" marR="9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5900000"/>
            <a:ext cx="10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C6070"/>
                </a:solidFill>
                <a:latin typeface="Calibri"/>
              </a:rPr>
              <a:t>강의 준비 중 웹 검색으로 실행한 예시입니다(2026.10.10). 도구와 시점에 따라 결과는 달라지므로, 오늘은 내 질문으로 직접 비교합니다.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⑤ · 함께 해보기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질문을 세 도구에 넣고 함께 비교한다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쓰기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47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아이템으로 질문 한 문장을 쓴다 — 방금 본 요령을 적용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486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883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도구에 입력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8833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질문을 Perplexity·Liner·Felo에 그대로 넣는다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4864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95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기록하기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529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도구별 답·출처·날짜를 기록표에 적는다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4864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0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확인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3708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링크를 열어 답이 실제로 있는지, 날짜·수치가 맞는지 대조한다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4864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정리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212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도구마다 다른 점, 틀린 점을 같이 찾아 발표한다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⑦ · 정리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— AI는 후보를 찾고, 근거는 직접 수집한다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검색의 역할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47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후보와 링크를 모으는 데까지 — 확인 전까지는 ‘단서’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486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883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출처로 확인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8833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사이트·원문에서 직접 대조한다 (⑤ 팩트체크)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4864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95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수집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529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원문을 그대로 가져오고 출처·수집일시를 남긴다 — 지금부터 실습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수집 · 왜 구글시트인가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구글시트로 수집하는가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불필요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8745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 하나(=IMPORTXML)만 셀에 입력하면 끝 — 별도 프로그램 설치·실행 없음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직접 해보기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8803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URL과 추출 위치(XPath)를 직접 찾아 입력 — 한 번 익히면 다른 페이지에도 응용 가능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886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결과가 바로 표 형태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8862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수집한 데이터가 셀에 바로 채워져 정제·필터링이 쉬움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8920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 계정만 있으면 별도 비용 없이 사용 가능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수집 · 함수 문법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IMPORTXML 함수 사용법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=IMPORTXML( url , xpath_query 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3063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가져올 웹페이지 주소 (따옴표로 감싸기)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xpath_query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페이지에서 추출할 위치를 지정하는 경로 — 크롬 개발자도구에서 요소 우클릭 → ‘Copy XPath’로 얻을 수 있음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xpath와 url 모두 큰따옴표(")로 감쌉니다. 작은따옴표(')가 필요한 경우는 xpath 안에 속성값(예: @id='내용')이 있어 따옴표가 또 필요할 때뿐입니다 — //h1처럼 단순한 경로는 큰따옴표만으로 충분합니다.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수집 · 흔한 오류와 한계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중 자주 만나는 문제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881360" cy="9601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#N/A 오류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87452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xpath가 실제 페이지 구조와 다름 — 페이지 구조가 바뀌었거나 요소 선택이 틀림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0881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따옴표 오류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88036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속성값이 있는 xpath(예: [@id=“...”])를 그대로 붙여넣어 큰따옴표가 겹칠 때 발생 — 안쪽만 작은따옴표로 교체. 단순 경로(//h1 등)는 큰따옴표만 쓰면 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0881360" cy="9601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8862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‘로드하는 데 시간이 걸림’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88620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시간당 호출 제한 초과 — IMPORTXML 개수를 줄이거나 잠시 후 재시도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0881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892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결과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89204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자바스크립트로 나중에 그려지는 동적 페이지 — IMPORTXML은 정적 HTML만 읽을 수 있음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수집 · 실전 확인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실전에서 확인한 사이트별 접근성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88136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연합뉴스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0" y="210312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114800" y="2103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차단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9202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홈페이지·RSS 모두 자동 접근 차단 (robots.txt)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822960" y="27614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한국소비자원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0" y="2944368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114800" y="29443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차단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76148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 자동 접근 차단 — 시트 함수 대신 브라우저 기반 수집(TOP5 자료)으로 진행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1088136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2960" y="360273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정책브리핑 (korea.kr)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3785616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114800" y="378561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02736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IMPORTXML 성공, 텍스트 공공누리 자유이용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43984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444398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식품의약품안전처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0" y="4626864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4114800" y="4626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4443984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접근 확인됨, 리콜·안전 정보 다수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285232"/>
            <a:ext cx="1088136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822960" y="52852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기상청 날씨누리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14800" y="5468112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4114800" y="54681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577840" y="5285232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예보문, 공공저작물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테스트해보지 않으면 알 수 없습니다 — 같은 정부 사이트라도 차단 여부가 다릅니다.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합법적 AI 데이터 활용 3원칙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874520"/>
            <a:ext cx="292608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728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합법적</a:t>
            </a:r>
            <a:endParaRPr lang="en-US" sz="16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수집 구분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480560" y="1874520"/>
            <a:ext cx="2926080" cy="1188720"/>
          </a:xfrm>
          <a:prstGeom prst="roundRect">
            <a:avLst>
              <a:gd name="adj" fmla="val 461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48056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AI 기반</a:t>
            </a:r>
            <a:endParaRPr lang="en-US" sz="16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정제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863840" y="1874520"/>
            <a:ext cx="292608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86384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사람의</a:t>
            </a:r>
            <a:endParaRPr lang="en-US" sz="16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349240" cy="7315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36576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 — AI로 자유롭게 정제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1605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공공데이터포털·보도자료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177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증시·경기 등 사실 수치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0749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위키백과, 공유마당(CCL)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5321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본인이 직접 생산한 콘텐츠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429000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172200" y="3429000"/>
            <a:ext cx="5349240" cy="7315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446520" y="36576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 — 사실만 뽑아 내 문장으로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1605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언론사 기사 본문 (AI에 넣지 않기)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6177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유료 구독 콘텐츠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50749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학습·활용 금지 명시 저작물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55321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‘변경금지’ 조건의 공공누리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수집 · 보조 함수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IMPORTHTML · IMPORTFEED도 함께 알아두기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94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IMPORTHTML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889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=IMPORTHTML(url, “table” 또는 “list”, 순번)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2900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 안의 표나 목록을 통째로 가져올 때 — xpath보다 훨씬 간단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92240" y="2194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IMPORTFEED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7889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=IMPORTFEED(url)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42900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언론사·블로그의 RSS 주소만 있으면 최신 글 목록을 자동 수집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수집 · 코딩으로 수집하는 이유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검색이 아니라 코딩으로 수집하는 이유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 단계가 없다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8745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원문 데이터를 그대로 가져온다 — 앞에서 본 요약·결론 오류가 구조적으로 생기지 않음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출처·수집일시 저장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8803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어디서 언제 가져왔는지 열로 남겨 나중에 다시 확인할 수 있음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886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 가능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8862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코드를 다시 돌리면 같은 조건으로 같은 결과가 나옴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점검 가능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8920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오류가 없어지는 것이 아니라, 어디서 틀렸는지 찾아 고칠 수 있게 됨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수집 · 코딩 수집 방법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코딩으로 수집하는 4가지 방법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API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8745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포털 검색 API(네이버), 국가법령정보·공공데이터포털 — 가장 먼저 검토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8803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언론사·기관이 제공하는 최신 글 목록 — 구조가 정해져 있어 안정적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886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스크래핑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8862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API·RSS가 없을 때만 — robots.txt와 이용약관을 먼저 확인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검색 API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8920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발굴용 — 결과는 근거가 아닌 단서로 저장하고 원문과 대조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수집 · Colab으로 API 호출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Colab에서 API로 데이터 가져오기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requests.get( url , headers=헤더 , params=조건 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3063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인증키(Client ID·Secret) — 코드에 직접 쓰지 않고 Colab 보안 비밀(Secrets)에 저장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검색어(query), 가져올 건수(display), 정렬(sort) 등 — 응답은 JSON, 표(DataFrame)로 바꿔 저장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코드는 AI와 함께 작성하되, 직접 실행해 결과를 확인합니다. 저장할 때 출처 URL·수집일시 열을 꼭 추가합니다.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수집 · 수집 원칙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코딩 수집에서 지킬 4가지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인증키 보관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8745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코드에 직접 쓰지 않는다 — Colab 보안 비밀(Secrets)에 저장하고 공유 시 제외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호출 예의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8803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호출 제한을 지키고, 짧은 간격으로 반복 호출하지 않는다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886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약관·robots.txt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8862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허용된 범위에서만 수집 — 기사 본문 등은 앞의 3원칙(저작권)을 함께 확인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8920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URL·수집일시·검색 조건을 열로 남겨 팩트체크 때 다시 확인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수집 · API 키 발급 절차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학생별 API 키 발급, 이렇게 합니다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가입·본인 인증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8745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개발자센터, 공공데이터포털, 국가법령정보 공동활용 — 서비스마다 각자 가입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등록·활용신청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8803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사용할 API를 고르고 사용 목적 입력 — 승인이 필요한 서비스는 사전에 신청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886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키 확인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8862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네이버: Client ID·Secret / 공공데이터포털: 인증키(Encoding·Decoding) / 법령: OC 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테스트 호출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8920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Colab에서 한 건만 호출해 응답 확인 — 안 되면 승인 상태·키 값·한도 순으로 점검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수집 · API 키 주의점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키는 내 비밀번호처럼 다룹니다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학생별 개별 발급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8745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키는 개인 계정에 묶여 있음 — 공용 사용·타인에게 전달 금지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노출 금지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8803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코드·슬라이드·공유 노트북에 직접 쓰지 않고 Colab 보안 비밀(Secrets)에 저장, 유출 시 즉시 재발급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886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호출 한도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8862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서비스마다 일일 한도가 있음 — 한 건으로 먼저 테스트하고 반복 호출에는 간격을 둔다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약관·개인정보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8920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 약관 확인, 수집 결과의 실명 등 개인정보는 필요한 항목만 저장·공유 전 점검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정제 · 복습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정제란 무엇이었는지 복습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2주차에서 만든 챗봇을 이번주는 실제 수집 자료로 돌려 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66160" cy="2011680"/>
          </a:xfrm>
          <a:prstGeom prst="roundRect">
            <a:avLst>
              <a:gd name="adj" fmla="val 3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Gems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· 구글 계정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2377440"/>
            <a:ext cx="3566160" cy="2011680"/>
          </a:xfrm>
          <a:prstGeom prst="roundRect">
            <a:avLst>
              <a:gd name="adj" fmla="val 3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2628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Projects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이상 유료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이번주는 새로 만들지 않고, 2주차에 만든 내 도메인 챗봇에 ‘수집한 데이터’를 넣어 정제된 콘텐츠를 뽑아냅니다.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+ ③ 연결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실습 흐름 — 수집에서 정제까지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11680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구글시트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IMPORTXML로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926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80360" y="2377440"/>
            <a:ext cx="2011680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017520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수집한 표를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926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12080" y="2377440"/>
            <a:ext cx="2011680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349240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챗봇에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붙여넣기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926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543800" y="2377440"/>
            <a:ext cx="2011680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680960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 프롬프트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(역할·구조·톤)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555480" y="2926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875520" y="2377440"/>
            <a:ext cx="2011680" cy="1463040"/>
          </a:xfrm>
          <a:prstGeom prst="roundRect">
            <a:avLst>
              <a:gd name="adj" fmla="val 375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10012680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01268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완성된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확인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480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 ‘도메인별 프롬프트 가이드’의 템플릿을 그대로 재사용합니다. (챗봇은 새로 만들지 않습니다)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실습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수집 → 정제, 손으로 직접 해보기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A. 구글시트로 지정된 페이지에서 데이터 수집하기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B. 저작권 유형을 확인한 뒤, 2주차 도메인 챗봇으로 정제해 콘텐츠 완성하기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C. Colab에서 AI와 함께 API 호출 코드를 작성·실행하고, 결과표를 출처·수집일시와 함께 저장하기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1828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 예고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20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— 도메인에 맞는 뉴스 세팅하기 (3/3)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도메인별 파인튜닝, AI 생성물 검수·품질개선 [③ 완료 120h]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[MBC 미디어캠퍼스] AI 기반 데이터 저널리스트 양성 과정 · 3주차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⑥ · 한계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검색으로 수집하면 부딪히는 한계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요약하다 틀린다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47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원문을 요약·재서술해 보여 준다 — 그 과정에서 내용이 달라질 수 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486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883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출처가 불안정하다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8833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링크와 내용이 맞지 않거나, 홍보·블로그 글이 함께 섞인다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4864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95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매번 결과가 달라진다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529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질문도 실행할 때마다 달라져 같은 조건으로 재현할 수 없다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4864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0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날짜·연도가 섞인다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3708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오래된 자료나 다른 연도 자료가 함께 나온다 (예시: 2026년·2027년 최저임금)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4864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원문과 기록이 남지 않는다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212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원문 그대로 저장되지 않고, 수집일시 기록과 표 정리·대량 수집이 어렵다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2026-09-13T04:59:13Z</dcterms:created>
  <dcterms:modified xsi:type="dcterms:W3CDTF">2026-09-13T04:59:13Z</dcterms:modified>
</cp:coreProperties>
</file>