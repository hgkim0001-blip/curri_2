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4" r:id="rId20"/>
    <p:sldId id="275" r:id="rId19"/>
    <p:sldId id="276" r:id="rId25"/>
    <p:sldId id="266" r:id="rId17"/>
    <p:sldId id="267" r:id="rId18"/>
    <p:sldId id="272" r:id="rId23"/>
    <p:sldId id="273" r:id="rId24"/>
    <p:sldId id="260" r:id="rId6"/>
    <p:sldId id="261" r:id="rId7"/>
    <p:sldId id="262" r:id="rId8"/>
    <p:sldId id="263" r:id="rId9"/>
    <p:sldId id="270" r:id="rId21"/>
    <p:sldId id="271" r:id="rId22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11.xml"/><Relationship Id="rId7" Type="http://schemas.openxmlformats.org/officeDocument/2006/relationships/slide" Target="slides/slide12.xml"/><Relationship Id="rId8" Type="http://schemas.openxmlformats.org/officeDocument/2006/relationships/slide" Target="slides/slide13.xml"/><Relationship Id="rId9" Type="http://schemas.openxmlformats.org/officeDocument/2006/relationships/slide" Target="slides/slide14.xml"/><Relationship Id="rId10" Type="http://schemas.openxmlformats.org/officeDocument/2006/relationships/slide" Target="slides/slide17.xml"/><Relationship Id="rId11" Type="http://schemas.openxmlformats.org/officeDocument/2006/relationships/slide" Target="slides/slide1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6.xml"/><Relationship Id="rId20" Type="http://schemas.openxmlformats.org/officeDocument/2006/relationships/slide" Target="slides/slide5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9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94960"/>
            <a:ext cx="1216152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MBC 미디어캠퍼스 · AI 기반 데이터 저널리스트 양성 과정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도메인에 맞는 뉴스 세팅하기 (1/3)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콘텐츠 도메인 확장 · 로봇저널리즘 · AI 기사생성 원리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뉴스뿐 아니라 브랜드·트렌드까지, 도메인을 넓힌다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도메인에 맞는 뉴스 세팅하기  120h 중 1/3(40h)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이번 주 학습 목표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지도 그리기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4대 도메인(정치·경제·사회·문화)에 브랜드·제품·트렌드가 더해진 이유와 공통점을 이해한다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57200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로봇저널리즘 원리 파악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정형 데이터가 기사가 되는 과정을 이해하고, AI 기사생성과의 차이를 구분한다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7532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27532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도메인별 챗봇 만들기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검증한 프롬프트를 GPTs·Gemini Gems·Claude Projects 챗봇으로 저장해 매번 입력 없이 재사용한다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· 복습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뉴스에서 브랜드·트렌드까지 — 도메인을 넓힌 이유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3383280"/>
          </a:xfrm>
          <a:prstGeom prst="roundRect">
            <a:avLst>
              <a:gd name="adj" fmla="val 1892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원안: 기자 지망생 중심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정치 · 경제 · 사회 · 문화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취재 대상이 ‘사회적 이슈’로 한정되어 유튜버·마케터·소상공인에게는 접점이 적었다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920240"/>
            <a:ext cx="5257800" cy="3383280"/>
          </a:xfrm>
          <a:prstGeom prst="roundRect">
            <a:avLst>
              <a:gd name="adj" fmla="val 18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629400" y="21488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재구성: 콘텐츠 제작자 전체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7432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브랜드 · 제품 · 트렌드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42900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7단계 파이프라인(기획→수집→정제→인사이트 분석→팩트체크→스크립트화→영상화)로 브랜드 홍보물·트렌드 리포트까지 제작할 수 있다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콘텐츠 도메인 지도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정치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정책·선거·공직자 발언 검증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87452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52628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경제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68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시황·기업 실적·소비 동향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87452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7532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사회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68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사건·사고·공공 이슈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7724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문화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114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공연·전시·트렌드 현상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352044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52628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브랜드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114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제품·서비스 홍보, 협찬 콘텐츠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352044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7532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트렌드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114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유행, 소비자 반응 분석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 카드 = 이번 재구성에서 새로 추가된 도메인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기획 · 파이프라인의 첫 단계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모든 영상은 기획에서 결정된다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77240" y="1901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What? 무엇을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042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만들 것인가 — 주제와 핵심 메시지, 한 문장으로 말할 수 있어야 한다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7240" y="3044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왜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472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만드는가 — 누구에게 어떤 변화를 주려는가, 왜 지금인가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777240" y="4187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How? 어떻게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902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만들 것인가 — 형식과 구성, 데이터와 검증, 제작 방법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1920240"/>
            <a:ext cx="5303520" cy="3429000"/>
          </a:xfrm>
          <a:prstGeom prst="roundRect">
            <a:avLst>
              <a:gd name="adj" fmla="val 16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58368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데이터, 다른 영상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69748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데이터도 기획에 따라 뉴스 리포트, 정보프로그램, 다큐멘터리, 브랜드 영상으로 전혀 다르게 만들어집니다. AI가 거들어도 “What to Say?(무엇을 만들 것인가?)”는 결국 제작자가 정합니다. 이번 주에는 도메인별 기획을 본격적으로 배웁니다.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· 기획서 작성요령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기획서</a:t>
            </a: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ko-KR" altLang="en-US" sz="32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작성요령</a:t>
            </a:r>
            <a:r>
              <a:rPr lang="en-US" sz="32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What · Why · How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· 무엇을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8470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주제와 한 문장 핵심 메시지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4864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883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· 왜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68833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누구에게 어떤 변화를 주려는가, 왜 지금인가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4864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295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· 형식과 구성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5295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뉴스·정보프로그램·다큐 등 형식, 분량, 구성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48640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08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· 데이터와 검증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37083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데이터를 어디서 구하고 무엇을 어떻게 검증할 것인가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3951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4864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· 윤리·AI 점검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5212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법적 위험, AI 사용 범위, 고지 방법 (다음 장 체크리스트 활용)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1/4 · 도메인별 비교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도메인이 달라지면 기획이 달라진다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548640" y="15544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 i="1">
                <a:solidFill>
                  <a:srgbClr val="5C6070"/>
                </a:solidFill>
                <a:latin typeface="Calibri"/>
                <a:ea typeface="Calibri"/>
                <a:cs typeface="Calibri"/>
              </a:rPr>
              <a:t>같은 What·Why·How 양식, 도메인에 따라 채워지는 내용과 구성 뼈대가 달라집니다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55648" y="1920240"/>
            <a:ext cx="3273552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55648" y="1920240"/>
            <a:ext cx="32735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뉴스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39328" y="1920240"/>
            <a:ext cx="3273552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8" y="1920240"/>
            <a:ext cx="32735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트렌드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47488" y="1920240"/>
            <a:ext cx="3273552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920240"/>
            <a:ext cx="32735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브랜드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2423160"/>
            <a:ext cx="1188720" cy="69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423160"/>
            <a:ext cx="1188720" cy="6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63946"/>
                </a:solidFill>
                <a:latin typeface="Cambria"/>
                <a:ea typeface="Cambria"/>
                <a:cs typeface="Cambria"/>
              </a:rPr>
              <a:t>What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55648" y="2423160"/>
            <a:ext cx="3273552" cy="69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92808" y="2423160"/>
            <a:ext cx="2999232" cy="6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오늘 확인된 사실 한 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39328" y="2423160"/>
            <a:ext cx="3273552" cy="69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76488" y="2423160"/>
            <a:ext cx="2999232" cy="6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지금 화제가 되는 현상 한 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47488" y="2423160"/>
            <a:ext cx="3273552" cy="69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84648" y="2423160"/>
            <a:ext cx="2999232" cy="6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대상에게 주는 혜택 한 문장 — 제품·서비스의 핵심 매력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133160"/>
            <a:ext cx="1188720" cy="69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133160"/>
            <a:ext cx="1188720" cy="6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63946"/>
                </a:solidFill>
                <a:latin typeface="Cambria"/>
                <a:ea typeface="Cambria"/>
                <a:cs typeface="Cambria"/>
              </a:rPr>
              <a:t>Why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55648" y="3133160"/>
            <a:ext cx="3273552" cy="6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92808" y="3133160"/>
            <a:ext cx="2999232" cy="6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알 권리 — 왜 지금 전해야 하나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39328" y="3133160"/>
            <a:ext cx="3273552" cy="6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76488" y="3133160"/>
            <a:ext cx="2999232" cy="6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소비자 반응·행동의 변화를 읽어 공감과 정보를 준다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47488" y="3133160"/>
            <a:ext cx="3273552" cy="6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84648" y="3133160"/>
            <a:ext cx="2999232" cy="6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소비자의 관심을 방문·구매·저장 같은 행동으로 연결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3843160"/>
            <a:ext cx="1188720" cy="69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3843160"/>
            <a:ext cx="1188720" cy="6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63946"/>
                </a:solidFill>
                <a:latin typeface="Cambria"/>
                <a:ea typeface="Cambria"/>
                <a:cs typeface="Cambria"/>
              </a:rPr>
              <a:t>How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55648" y="3843160"/>
            <a:ext cx="3273552" cy="69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92808" y="3843160"/>
            <a:ext cx="2999232" cy="6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역피라미드, 수치·출처 중심 (2분)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39328" y="3843160"/>
            <a:ext cx="3273552" cy="69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76488" y="3843160"/>
            <a:ext cx="2999232" cy="6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구어체·후기형, 짧은 호흡 (30초)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47488" y="3843160"/>
            <a:ext cx="3273552" cy="69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84648" y="3843160"/>
            <a:ext cx="2999232" cy="6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감성 카피 + 소재 속 사실로 뒷받침, 짧고 선명하게 (1분)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010000"/>
            <a:ext cx="1088136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00" b="0" i="1">
                <a:solidFill>
                  <a:srgbClr val="5C6070"/>
                </a:solidFill>
                <a:latin typeface="Calibri"/>
                <a:ea typeface="Calibri"/>
                <a:cs typeface="Calibri"/>
              </a:rPr>
              <a:t>같은 What·Why·How 양식에 내용만 바꿉니다. 다음 장부터 뉴스·브랜드·트렌드를 하나씩 살펴봅니다.</a:t>
            </a:r>
          </a:p>
        </p:txBody>
      </p:sp>
      <p:sp>
        <p:nvSpPr>
          <p:cNvPr id="64" name="Rectangle 42_r4"/>
          <p:cNvSpPr/>
          <p:nvPr/>
        </p:nvSpPr>
        <p:spPr>
          <a:xfrm>
            <a:off x="548640" y="4553160"/>
            <a:ext cx="1188720" cy="69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43_r4"/>
          <p:cNvSpPr txBox="1"/>
          <p:nvPr/>
        </p:nvSpPr>
        <p:spPr>
          <a:xfrm>
            <a:off x="548640" y="4553160"/>
            <a:ext cx="1188720" cy="6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63946"/>
                </a:solidFill>
                <a:latin typeface="Cambria"/>
                <a:ea typeface="Cambria"/>
                <a:cs typeface="Cambria"/>
              </a:rPr>
              <a:t>구성</a:t>
            </a:r>
          </a:p>
        </p:txBody>
      </p:sp>
      <p:sp>
        <p:nvSpPr>
          <p:cNvPr id="66" name="Rectangle 44_r4"/>
          <p:cNvSpPr/>
          <p:nvPr/>
        </p:nvSpPr>
        <p:spPr>
          <a:xfrm>
            <a:off x="1755648" y="4553160"/>
            <a:ext cx="3273552" cy="6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45_r4"/>
          <p:cNvSpPr txBox="1"/>
          <p:nvPr/>
        </p:nvSpPr>
        <p:spPr>
          <a:xfrm>
            <a:off x="1892808" y="4553160"/>
            <a:ext cx="2999232" cy="6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앵커멘트 → 본문 → 클로징</a:t>
            </a:r>
          </a:p>
        </p:txBody>
      </p:sp>
      <p:sp>
        <p:nvSpPr>
          <p:cNvPr id="68" name="Rectangle 50_r4"/>
          <p:cNvSpPr/>
          <p:nvPr/>
        </p:nvSpPr>
        <p:spPr>
          <a:xfrm>
            <a:off x="5047488" y="4553160"/>
            <a:ext cx="3273552" cy="6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51_r4"/>
          <p:cNvSpPr txBox="1"/>
          <p:nvPr/>
        </p:nvSpPr>
        <p:spPr>
          <a:xfrm>
            <a:off x="5184648" y="4553160"/>
            <a:ext cx="2999232" cy="6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AIDA — 주의(훅) → 관심 → 욕구 → 행동</a:t>
            </a:r>
          </a:p>
        </p:txBody>
      </p:sp>
      <p:sp>
        <p:nvSpPr>
          <p:cNvPr id="70" name="Rectangle 46_r4"/>
          <p:cNvSpPr/>
          <p:nvPr/>
        </p:nvSpPr>
        <p:spPr>
          <a:xfrm>
            <a:off x="8339328" y="4553160"/>
            <a:ext cx="3273552" cy="6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47_r4"/>
          <p:cNvSpPr txBox="1"/>
          <p:nvPr/>
        </p:nvSpPr>
        <p:spPr>
          <a:xfrm>
            <a:off x="8476488" y="4553160"/>
            <a:ext cx="2999232" cy="6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공감형 후킹 → 경험담·반응 → 감탄 마무리</a:t>
            </a:r>
          </a:p>
        </p:txBody>
      </p:sp>
      <p:sp>
        <p:nvSpPr>
          <p:cNvPr id="74" name="Rectangle 52_r5"/>
          <p:cNvSpPr/>
          <p:nvPr/>
        </p:nvSpPr>
        <p:spPr>
          <a:xfrm>
            <a:off x="548640" y="5263160"/>
            <a:ext cx="1188720" cy="69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53_r5"/>
          <p:cNvSpPr txBox="1"/>
          <p:nvPr/>
        </p:nvSpPr>
        <p:spPr>
          <a:xfrm>
            <a:off x="548640" y="5263160"/>
            <a:ext cx="1188720" cy="6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63946"/>
                </a:solidFill>
                <a:latin typeface="Cambria"/>
                <a:ea typeface="Cambria"/>
                <a:cs typeface="Cambria"/>
              </a:rPr>
              <a:t>점검</a:t>
            </a:r>
          </a:p>
        </p:txBody>
      </p:sp>
      <p:sp>
        <p:nvSpPr>
          <p:cNvPr id="76" name="Rectangle 54_r5"/>
          <p:cNvSpPr/>
          <p:nvPr/>
        </p:nvSpPr>
        <p:spPr>
          <a:xfrm>
            <a:off x="1755648" y="5263160"/>
            <a:ext cx="3273552" cy="69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55_r5"/>
          <p:cNvSpPr txBox="1"/>
          <p:nvPr/>
        </p:nvSpPr>
        <p:spPr>
          <a:xfrm>
            <a:off x="1892808" y="5263160"/>
            <a:ext cx="2999232" cy="6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자료에 없는 사실·발언 만들기 금지, 출처 표기</a:t>
            </a:r>
          </a:p>
        </p:txBody>
      </p:sp>
      <p:sp>
        <p:nvSpPr>
          <p:cNvPr id="78" name="Rectangle 60_r5"/>
          <p:cNvSpPr/>
          <p:nvPr/>
        </p:nvSpPr>
        <p:spPr>
          <a:xfrm>
            <a:off x="5047488" y="5263160"/>
            <a:ext cx="3273552" cy="69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61_r5"/>
          <p:cNvSpPr txBox="1"/>
          <p:nvPr/>
        </p:nvSpPr>
        <p:spPr>
          <a:xfrm>
            <a:off x="5184648" y="5263160"/>
            <a:ext cx="2999232" cy="6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소재에 없는 효능·수치·수상 내역 금지, 협찬·AI 생성 고지</a:t>
            </a:r>
          </a:p>
        </p:txBody>
      </p:sp>
      <p:sp>
        <p:nvSpPr>
          <p:cNvPr id="80" name="Rectangle 56_r5"/>
          <p:cNvSpPr/>
          <p:nvPr/>
        </p:nvSpPr>
        <p:spPr>
          <a:xfrm>
            <a:off x="8339328" y="5263160"/>
            <a:ext cx="3273552" cy="69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57_r5"/>
          <p:cNvSpPr txBox="1"/>
          <p:nvPr/>
        </p:nvSpPr>
        <p:spPr>
          <a:xfrm>
            <a:off x="8476488" y="5263160"/>
            <a:ext cx="2999232" cy="6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일부 반응을 전체 유행처럼 쓰지 않기, 순위 단정 금지, 출처·기간 표기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2/4 · 뉴스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뉴스 기획 — 사실이 먼저, 검증 계획이 기획서에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4" name="Rounded Rectangle 23"/>
          <p:cNvSpPr/>
          <p:nvPr/>
        </p:nvSpPr>
        <p:spPr>
          <a:xfrm>
            <a:off x="548640" y="1783080"/>
            <a:ext cx="3566160" cy="260604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1783080"/>
            <a:ext cx="35661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0116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아이템 선정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23774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 i="0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왜 지금 뉴스인가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92608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sz="12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시의성(지금 필요한 정보인가), 공공성(많은 사람에게 영향을 주는가), 확인 가능성(데이터로 확인할 수 있는가)을 따집니다.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1783080"/>
            <a:ext cx="3566160" cy="260604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1783080"/>
            <a:ext cx="35661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20116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기획서에 먼저 적을 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23774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 i="0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데이터 · 검증 · 반론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292608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sz="12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어떤 데이터를 어디서 구할지, 무엇을 어떻게 검증할지, 실존 인물·기업이 나오면 반론 기회를 어떻게 줄지 미리 적습니다.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1783080"/>
            <a:ext cx="3566160" cy="260604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1783080"/>
            <a:ext cx="35661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20116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구성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23774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 i="0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앵커멘트 + 본문 + 클로징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292608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900"/>
              </a:lnSpc>
            </a:pPr>
            <a:r>
              <a:rPr sz="12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결론과 핵심 사실을 앞에 두는 역피라미드. 수치와 출처가 중심이고 어조는 절제합니다.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6634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예시 · 추석 연휴 날씨 이슈 리포트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029200"/>
            <a:ext cx="640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 i="0">
                <a:solidFill>
                  <a:srgbClr val="FF8A93"/>
                </a:solidFill>
                <a:latin typeface="Cambria"/>
                <a:ea typeface="Cambria"/>
                <a:cs typeface="Cambria"/>
              </a:rPr>
              <a:t>What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5029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연휴 기간 지역별 날씨 한 줄 요약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5029200"/>
            <a:ext cx="640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 i="0">
                <a:solidFill>
                  <a:srgbClr val="FF8A93"/>
                </a:solidFill>
                <a:latin typeface="Cambria"/>
                <a:ea typeface="Cambria"/>
                <a:cs typeface="Cambria"/>
              </a:rPr>
              <a:t>Why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5029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이동·성묘 계획에 바로 영향을 주는 정보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80" y="5029200"/>
            <a:ext cx="640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 i="0">
                <a:solidFill>
                  <a:srgbClr val="FF8A93"/>
                </a:solidFill>
                <a:latin typeface="Cambria"/>
                <a:ea typeface="Cambria"/>
                <a:cs typeface="Cambria"/>
              </a:rPr>
              <a:t>How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5029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기상청 예보 수집 → 앵커멘트·본문·클로징으로 구성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3/4 · 브랜드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브랜드 기획 — 4단계 뼈대로 짧게 쓴다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548640" y="1554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 i="1">
                <a:solidFill>
                  <a:srgbClr val="5C6070"/>
                </a:solidFill>
                <a:latin typeface="Calibri"/>
                <a:ea typeface="Calibri"/>
                <a:cs typeface="Calibri"/>
              </a:rPr>
              <a:t>한 제품, 한 메시지. 감성 카피지만 소재에 있는 사실 위에서만 씁니다 (AIDA 구조)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011680"/>
            <a:ext cx="2423160" cy="118872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1031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① 주의 (훅)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5603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00"/>
              </a:lnSpc>
            </a:pPr>
            <a:r>
              <a:rPr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첫 문장 — 타깃의 상황·고민을 건드린다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86100" y="237744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5C607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0" y="2011680"/>
            <a:ext cx="2423160" cy="118872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21031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② 관심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25603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00"/>
              </a:lnSpc>
            </a:pPr>
            <a:r>
              <a:rPr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핵심 매력 한 가지 — 대상과 혜택 한 문장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66460" y="237744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5C607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2011680"/>
            <a:ext cx="2423160" cy="1188720"/>
          </a:xfrm>
          <a:prstGeom prst="roundRect">
            <a:avLst>
              <a:gd name="adj" fmla="val 3000"/>
            </a:avLst>
          </a:prstGeom>
          <a:solidFill>
            <a:srgbClr val="E63946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1031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③ 욕구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5603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00"/>
              </a:lnSpc>
            </a:pPr>
            <a:r>
              <a:rPr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근거 — 소재에 있는 성분·특징·후기 사실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46820" y="237744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5C607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9720" y="2011680"/>
            <a:ext cx="2423160" cy="1188720"/>
          </a:xfrm>
          <a:prstGeom prst="roundRect">
            <a:avLst>
              <a:gd name="adj" fmla="val 3000"/>
            </a:avLst>
          </a:prstGeom>
          <a:solidFill>
            <a:srgbClr val="E63946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81160" y="21031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④ 행동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25603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00"/>
              </a:lnSpc>
            </a:pPr>
            <a:r>
              <a:rPr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다음 행동 한 가지 — 방문·구매·저장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34747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기획서에 먼저 정할 것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886200"/>
            <a:ext cx="5303520" cy="41148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38862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•  누구에게 어떤 혜택을 주는지 한 문장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343400"/>
            <a:ext cx="5303520" cy="41148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43434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•  쓸 수 있는 사실 목록 — 소재 자료에 있는 것만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800600"/>
            <a:ext cx="5303520" cy="41148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48006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•  협찬·광고, AI 생성 사실을 어떻게 고지할지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34747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스크립트에 들어가는 내용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60" y="3886200"/>
            <a:ext cx="5303520" cy="4800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3886200"/>
            <a:ext cx="13716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FF8A93"/>
                </a:solidFill>
                <a:latin typeface="Calibri"/>
                <a:ea typeface="Calibri"/>
                <a:cs typeface="Calibri"/>
              </a:rPr>
              <a:t>훅 문장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63840" y="3886200"/>
            <a:ext cx="36576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6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타깃이 공감할 상황 한 줄로 시작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09360" y="4416200"/>
            <a:ext cx="5303520" cy="4800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4416200"/>
            <a:ext cx="13716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FF8A93"/>
                </a:solidFill>
                <a:latin typeface="Calibri"/>
                <a:ea typeface="Calibri"/>
                <a:cs typeface="Calibri"/>
              </a:rPr>
              <a:t>소구점 + 근거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63840" y="4416200"/>
            <a:ext cx="36576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6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혜택 한 문장 + 자료 속 사실 2~3개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55600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200" b="0" i="1">
                <a:solidFill>
                  <a:srgbClr val="5C6070"/>
                </a:solidFill>
                <a:latin typeface="Calibri"/>
                <a:ea typeface="Calibri"/>
                <a:cs typeface="Calibri"/>
              </a:rPr>
              <a:t>소재에 없는 효능·수치·수상 내역, 사실과 다른 과장은 쓰지 않습니다. 이 뼈대를 알고 스크립트를 쓰면 AI 결과도 빠진 단계를 바로 찾아낼 수 있습니다.</a:t>
            </a:r>
          </a:p>
        </p:txBody>
      </p:sp>
      <p:sp>
        <p:nvSpPr>
          <p:cNvPr id="59" name="Rounded Rectangle 54x"/>
          <p:cNvSpPr/>
          <p:nvPr/>
        </p:nvSpPr>
        <p:spPr>
          <a:xfrm>
            <a:off x="6309360" y="4946200"/>
            <a:ext cx="5303520" cy="4800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5x"/>
          <p:cNvSpPr txBox="1"/>
          <p:nvPr/>
        </p:nvSpPr>
        <p:spPr>
          <a:xfrm>
            <a:off x="6492240" y="4946200"/>
            <a:ext cx="13716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FF8A93"/>
                </a:solidFill>
                <a:latin typeface="Calibri"/>
                <a:ea typeface="Calibri"/>
                <a:cs typeface="Calibri"/>
              </a:rPr>
              <a:t>행동 유도</a:t>
            </a:r>
          </a:p>
        </p:txBody>
      </p:sp>
      <p:sp>
        <p:nvSpPr>
          <p:cNvPr id="61" name="TextBox 56x"/>
          <p:cNvSpPr txBox="1"/>
          <p:nvPr/>
        </p:nvSpPr>
        <p:spPr>
          <a:xfrm>
            <a:off x="7863840" y="4946200"/>
            <a:ext cx="36576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6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마지막 컷에 행동 문구 한 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4/4 · 트렌드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트렌드 기획 — 반응 데이터가 근거다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548640" y="1554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 i="1">
                <a:solidFill>
                  <a:srgbClr val="5C6070"/>
                </a:solidFill>
                <a:latin typeface="Calibri"/>
                <a:ea typeface="Calibri"/>
                <a:cs typeface="Calibri"/>
              </a:rPr>
              <a:t>가볍고 짧은 호흡이지만, 근거는 수집한 반응 데이터에서 가져옵니다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011680"/>
            <a:ext cx="3383280" cy="118872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1031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① 공감형 후킹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5603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00"/>
              </a:lnSpc>
            </a:pPr>
            <a:r>
              <a:rPr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처음 한 줄 — “요즘 ~ 해본 적 있어?” 같은 공감 질문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6220" y="237744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5C607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2011680"/>
            <a:ext cx="3383280" cy="118872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21031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② 경험담 · 반응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25603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00"/>
              </a:lnSpc>
            </a:pPr>
            <a:r>
              <a:rPr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SNS 반응·검색량 등 근거 사례 2~3개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6700" y="237744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5C607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2011680"/>
            <a:ext cx="3383280" cy="1188720"/>
          </a:xfrm>
          <a:prstGeom prst="roundRect">
            <a:avLst>
              <a:gd name="adj" fmla="val 3000"/>
            </a:avLst>
          </a:prstGeom>
          <a:solidFill>
            <a:srgbClr val="E63946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21031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③ 감탄 마무리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5603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00"/>
              </a:lnSpc>
            </a:pPr>
            <a:r>
              <a:rPr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한 줄 감탄 + 저장·공유 유도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34747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기획서에 먼저 정할 것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886200"/>
            <a:ext cx="5303520" cy="41148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38862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•  어떤 유행·현상을 다루는지 한 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343400"/>
            <a:ext cx="5303520" cy="41148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43434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•  수집할 근거 — SNS 반응, 검색량, 후기 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800600"/>
            <a:ext cx="5303520" cy="41148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48006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•  기준 기간과 출처 (언제, 어디 데이터인지)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34747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스크립트에 들어가는 내용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60" y="3886200"/>
            <a:ext cx="5303520" cy="4800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3886200"/>
            <a:ext cx="13716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FF8A93"/>
                </a:solidFill>
                <a:latin typeface="Calibri"/>
                <a:ea typeface="Calibri"/>
                <a:cs typeface="Calibri"/>
              </a:rPr>
              <a:t>후킹 질문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63840" y="3886200"/>
            <a:ext cx="36576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6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공감을 부르는 질문 한 문장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09360" y="4416200"/>
            <a:ext cx="5303520" cy="4800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4416200"/>
            <a:ext cx="13716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FF8A93"/>
                </a:solidFill>
                <a:latin typeface="Calibri"/>
                <a:ea typeface="Calibri"/>
                <a:cs typeface="Calibri"/>
              </a:rPr>
              <a:t>반응 사례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63840" y="4416200"/>
            <a:ext cx="36576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6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수치는 정확하게, 출처·기간 표기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55600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200" b="0" i="1">
                <a:solidFill>
                  <a:srgbClr val="5C6070"/>
                </a:solidFill>
                <a:latin typeface="Calibri"/>
                <a:ea typeface="Calibri"/>
                <a:cs typeface="Calibri"/>
              </a:rPr>
              <a:t>일부 반응을 전체 유행처럼 쓰지 않았는지, 인기 순위를 근거 없이 단정하지 않았는지 점검합니다. 뼈대를 알면 AI가 지어낸 반응도 바로 보입니다.</a:t>
            </a:r>
          </a:p>
        </p:txBody>
      </p:sp>
      <p:sp>
        <p:nvSpPr>
          <p:cNvPr id="59" name="Rounded Rectangle 54x"/>
          <p:cNvSpPr/>
          <p:nvPr/>
        </p:nvSpPr>
        <p:spPr>
          <a:xfrm>
            <a:off x="6309360" y="4946200"/>
            <a:ext cx="5303520" cy="4800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5x"/>
          <p:cNvSpPr txBox="1"/>
          <p:nvPr/>
        </p:nvSpPr>
        <p:spPr>
          <a:xfrm>
            <a:off x="6492240" y="4946200"/>
            <a:ext cx="13716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FF8A93"/>
                </a:solidFill>
                <a:latin typeface="Calibri"/>
                <a:ea typeface="Calibri"/>
                <a:cs typeface="Calibri"/>
              </a:rPr>
              <a:t>마무리 한 줄</a:t>
            </a:r>
          </a:p>
        </p:txBody>
      </p:sp>
      <p:sp>
        <p:nvSpPr>
          <p:cNvPr id="61" name="TextBox 56x"/>
          <p:cNvSpPr txBox="1"/>
          <p:nvPr/>
        </p:nvSpPr>
        <p:spPr>
          <a:xfrm>
            <a:off x="7863840" y="4946200"/>
            <a:ext cx="36576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6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구어체 감탄 + 행동 유도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 · 로봇저널리즘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로봇저널리즘이란?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3383280"/>
          </a:xfrm>
          <a:prstGeom prst="roundRect">
            <a:avLst>
              <a:gd name="adj" fmla="val 18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데이터를</a:t>
            </a:r>
            <a:endParaRPr lang="en-US" sz="30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기사로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정형화된 데이터를 미리 정한 템플릿(알고리즘)에 자동으로 채워 넣어 기사를 생성하는 방식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251960" y="1965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활용 분야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9659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증시 시황, 스포츠 경기 결과, 기업 실적 발표, 기상 속보처럼 반복적이고 정형화된 뉴스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280720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국내외 사례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8072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 통신사는 실적 발표 시즌마다 자동 생성 기사로 수백 건을 실시간 배포, 국내 일부 매체도 시황·날씨 속보에 자동 기사 실험 도입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3648456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364845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속도(수초 내 발행)와 정확성(사람의 계산 실수 없음)에 강점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4489704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448970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정형 데이터가 없는 사안, 맥락·해석이 필요한 심층 기사에는 적용이 어려움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5-2 · 비교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로봇저널리즘 vs. 생성형 AI 기사작성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3657600"/>
          </a:xfrm>
          <a:prstGeom prst="roundRect">
            <a:avLst>
              <a:gd name="adj" fmla="val 1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로봇저널리즘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(템플릿 기반)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632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미리 정한 문장 틀에 데이터만 삽입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3016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정형 데이터(숫자·표)에 강함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19709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표현이 정형적·반복적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76402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예: “[종목]이 [수치]% 상승 마감”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920240"/>
            <a:ext cx="5349240" cy="3657600"/>
          </a:xfrm>
          <a:prstGeom prst="roundRect">
            <a:avLst>
              <a:gd name="adj" fmla="val 15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21488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생성형 AI 기사작성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(LLM 기반)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0632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프롬프트로 맥락·톤을 지정해 문장을 새로 생성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63016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비정형 데이터(인터뷰·자료)도 요약 가능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19709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표현이 다양하고 유연함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76402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예: 자료를 요약해 스토리 흐름이 있는 기사 초안 작성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5-3 · 생성 원리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AI는 어떻게 기사를 ‘쓰는가’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496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26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 입력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6974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80360" y="2377440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17520" y="2496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926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지정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6974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212080" y="2377440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49240" y="2496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2926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톤앤매너 지정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6974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543800" y="2377440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0" y="2496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2926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초안 생성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555480" y="26974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875520" y="2377440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12680" y="2496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0012680" y="2926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사람의 검수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0233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핵심은 ‘① 자료 입력’과 ‘⑤ 사람의 검수’입니다. AI가 만든 초안은 반드시 사실 확인·톤 점검을 거쳐야 하며, 이 과정 없이 바로 발행하면 1주차에서 배운 할루시네이션·표시 의무 위반 위험이 그대로 남습니다.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5-4 · 톤앤매너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같은 소재, 다른 도메인 — 톤앤매너 비교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소재: 신제품 무선이어폰 출시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0881360" cy="11430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2194560"/>
            <a:ext cx="8503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“A사, 신형 무선이어폰 출시 — 배터리 30% 개선” — 사실 위주, 수치 중심, 절제된 어조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10881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33756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3337560"/>
            <a:ext cx="8503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“하루 종일 끊기지 않는 사운드, 이제 당신의 것” — 감성적 카피, 소비자 혜택 강조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10881360" cy="11430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48056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트렌드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4480560"/>
            <a:ext cx="8503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“요즘 이어폰 뭐 써? SNS서 화제인 신제품 뜯어봤다” — 구어체, 후기형, 캐주얼한 어조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1/2 · 설계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좋은 프롬프트의 5가지 요소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4" name="Rounded Rectangle 23"/>
          <p:cNvSpPr/>
          <p:nvPr/>
        </p:nvSpPr>
        <p:spPr>
          <a:xfrm>
            <a:off x="548640" y="1645920"/>
            <a:ext cx="2057400" cy="132588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1645920"/>
            <a:ext cx="20574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178308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E63946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219456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역할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551176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500"/>
              </a:lnSpc>
            </a:pPr>
            <a:r>
              <a:rPr sz="1100" b="0" i="0">
                <a:solidFill>
                  <a:srgbClr val="5C6070"/>
                </a:solidFill>
                <a:latin typeface="Calibri"/>
                <a:ea typeface="Calibri"/>
                <a:cs typeface="Calibri"/>
              </a:rPr>
              <a:t>구체적인 직업·경력을 부여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00350" y="1645920"/>
            <a:ext cx="2057400" cy="132588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00350" y="1645920"/>
            <a:ext cx="20574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83230" y="178308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E63946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83230" y="219456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구조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83230" y="2551176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500"/>
              </a:lnSpc>
            </a:pPr>
            <a:r>
              <a:rPr sz="1100" b="0" i="0">
                <a:solidFill>
                  <a:srgbClr val="5C6070"/>
                </a:solidFill>
                <a:latin typeface="Calibri"/>
                <a:ea typeface="Calibri"/>
                <a:cs typeface="Calibri"/>
              </a:rPr>
              <a:t>그 도메인의 글 뼈대를 지정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52060" y="1645920"/>
            <a:ext cx="2057400" cy="132588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52060" y="1645920"/>
            <a:ext cx="20574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34940" y="178308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E63946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4940" y="219456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스타일 규칙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34940" y="2551176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500"/>
              </a:lnSpc>
            </a:pPr>
            <a:r>
              <a:rPr sz="1100" b="0" i="0">
                <a:solidFill>
                  <a:srgbClr val="5C6070"/>
                </a:solidFill>
                <a:latin typeface="Calibri"/>
                <a:ea typeface="Calibri"/>
                <a:cs typeface="Calibri"/>
              </a:rPr>
              <a:t>문장 길이·어휘·이모지 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03770" y="1645920"/>
            <a:ext cx="2057400" cy="132588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03770" y="1645920"/>
            <a:ext cx="20574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86650" y="178308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E63946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86650" y="219456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분량 · 형식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86650" y="2551176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500"/>
              </a:lnSpc>
            </a:pPr>
            <a:r>
              <a:rPr sz="1100" b="0" i="0">
                <a:solidFill>
                  <a:srgbClr val="5C6070"/>
                </a:solidFill>
                <a:latin typeface="Calibri"/>
                <a:ea typeface="Calibri"/>
                <a:cs typeface="Calibri"/>
              </a:rPr>
              <a:t>몇 문장, 해시태그 여부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55480" y="1645920"/>
            <a:ext cx="2057400" cy="132588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55480" y="1645920"/>
            <a:ext cx="205740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38360" y="178308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E63946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219456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금지사항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38360" y="2551176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500"/>
              </a:lnSpc>
            </a:pPr>
            <a:r>
              <a:rPr sz="1100" b="0" i="0">
                <a:solidFill>
                  <a:srgbClr val="5C6070"/>
                </a:solidFill>
                <a:latin typeface="Calibri"/>
                <a:ea typeface="Calibri"/>
                <a:cs typeface="Calibri"/>
              </a:rPr>
              <a:t>하지 말아야 할 것을 명시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55648" y="3154680"/>
            <a:ext cx="3273552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55648" y="3154680"/>
            <a:ext cx="32735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역할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47488" y="3154680"/>
            <a:ext cx="3273552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47488" y="3154680"/>
            <a:ext cx="32735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구조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39328" y="3154680"/>
            <a:ext cx="3273552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39328" y="3154680"/>
            <a:ext cx="32735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금지 · 주의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3584448"/>
            <a:ext cx="1188720" cy="64008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3584448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E63946"/>
                </a:solidFill>
                <a:latin typeface="Cambria"/>
                <a:ea typeface="Cambria"/>
                <a:cs typeface="Cambria"/>
              </a:rPr>
              <a:t>뉴스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55648" y="3584448"/>
            <a:ext cx="3273552" cy="64008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92808" y="3584448"/>
            <a:ext cx="29992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6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10년 경력의 기자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47488" y="3584448"/>
            <a:ext cx="3273552" cy="64008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84648" y="3584448"/>
            <a:ext cx="29992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6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역피라미드 — 리드에 누가·언제·무엇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39328" y="3584448"/>
            <a:ext cx="3273552" cy="64008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76488" y="3584448"/>
            <a:ext cx="29992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6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추측 표현, 자료에 없는 사실·발언 만들기 금지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4242816"/>
            <a:ext cx="1188720" cy="64008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4242816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E63946"/>
                </a:solidFill>
                <a:latin typeface="Cambria"/>
                <a:ea typeface="Cambria"/>
                <a:cs typeface="Cambria"/>
              </a:rPr>
              <a:t>브랜드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755648" y="4242816"/>
            <a:ext cx="32735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892808" y="4242816"/>
            <a:ext cx="29992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6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15년 경력의 카피라이터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47488" y="4242816"/>
            <a:ext cx="32735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84648" y="4242816"/>
            <a:ext cx="29992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6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AIDA (주의 → 관심 → 욕구 → 행동)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39328" y="4242816"/>
            <a:ext cx="32735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76488" y="4242816"/>
            <a:ext cx="29992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6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소재에 없는 효능·수치·수상 내역 금지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" y="4901184"/>
            <a:ext cx="1188720" cy="64008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4901184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E63946"/>
                </a:solidFill>
                <a:latin typeface="Cambria"/>
                <a:ea typeface="Cambria"/>
                <a:cs typeface="Cambria"/>
              </a:rPr>
              <a:t>트렌드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755648" y="4901184"/>
            <a:ext cx="3273552" cy="64008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892808" y="4901184"/>
            <a:ext cx="29992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6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20대 타겟 인플루언서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47488" y="4901184"/>
            <a:ext cx="3273552" cy="64008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184648" y="4901184"/>
            <a:ext cx="29992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6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공감형 후킹 → 경험담 → 감탄 마무리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39328" y="4901184"/>
            <a:ext cx="3273552" cy="64008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76488" y="4901184"/>
            <a:ext cx="29992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6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사실·인기 순위를 근거 없이 단정 금지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00" b="0" i="1">
                <a:solidFill>
                  <a:srgbClr val="5C6070"/>
                </a:solidFill>
                <a:latin typeface="Calibri"/>
                <a:ea typeface="Calibri"/>
                <a:cs typeface="Calibri"/>
              </a:rPr>
              <a:t>“뉴스 톤으로 써줘”처럼 도메인 이름만 알려주면 밋밋한 글이 나옵니다. 결과를 좌우하는 것은 도메인 이름이 아니라 구체적인 지시입니다.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2/2 · 챗봇화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프롬프트를 챗봇으로 — 매번 채팅에 입력하지 않는다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24" name="Rounded Rectangle 23"/>
          <p:cNvSpPr/>
          <p:nvPr/>
        </p:nvSpPr>
        <p:spPr>
          <a:xfrm>
            <a:off x="548640" y="1645920"/>
            <a:ext cx="2468880" cy="123444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173736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  프롬프트 테스트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194560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1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같은 소재를 3개 도메인 프롬프트로 실행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2057400"/>
            <a:ext cx="2971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5C607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14700" y="1645920"/>
            <a:ext cx="2468880" cy="123444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1860" y="173736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  결과 점검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1860" y="2194560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1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톤·형식 확인, 지어낸 내용 찾기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83580" y="2057400"/>
            <a:ext cx="2971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5C607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0760" y="1645920"/>
            <a:ext cx="2468880" cy="1234440"/>
          </a:xfrm>
          <a:prstGeom prst="roundRect">
            <a:avLst>
              <a:gd name="adj" fmla="val 3000"/>
            </a:avLst>
          </a:prstGeom>
          <a:solidFill>
            <a:srgbClr val="E63946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173736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  지시문 저장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194560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1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GPTs·Gems·Projects의 지시문에 고정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2057400"/>
            <a:ext cx="2971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5C607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46820" y="1645920"/>
            <a:ext cx="2468880" cy="123444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83980" y="173736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  재사용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83980" y="2194560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1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소재·자료만 입력하면 도메인 글 완성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200400"/>
            <a:ext cx="5394960" cy="219456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 w="12700">
            <a:solidFill>
              <a:srgbClr val="F4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테스트할 때 점검할 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3794760"/>
            <a:ext cx="493776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6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•  자료에 없는 사실·수치·발언을 지어내지 않았는가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274760"/>
            <a:ext cx="493776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6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•  도메인에 맞는 톤과 구조(역피라미드·AIDA 등)를 지켰는가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4754760"/>
            <a:ext cx="493776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600"/>
              </a:lnSpc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•  분량·형식·금지사항 규칙을 지켰는가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3200400"/>
            <a:ext cx="5394960" cy="219456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챗봇에는 이렇게 나눠 넣는다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FF8A93"/>
                </a:solidFill>
                <a:latin typeface="Calibri"/>
                <a:ea typeface="Calibri"/>
                <a:cs typeface="Calibri"/>
              </a:rPr>
              <a:t>지시문에 고정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384048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6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역할 · 구조 · 스타일 규칙 · 분량 · 금지사항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459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FF8A93"/>
                </a:solidFill>
                <a:latin typeface="Calibri"/>
                <a:ea typeface="Calibri"/>
                <a:cs typeface="Calibri"/>
              </a:rPr>
              <a:t>매번 입력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0" y="459048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6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이번에 쓸 소재 · 수집한 자료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ts val="1700"/>
              </a:lnSpc>
            </a:pPr>
            <a:r>
              <a:rPr sz="1200" b="0" i="1">
                <a:solidFill>
                  <a:srgbClr val="5C6070"/>
                </a:solidFill>
                <a:latin typeface="Calibri"/>
                <a:ea typeface="Calibri"/>
                <a:cs typeface="Calibri"/>
              </a:rPr>
              <a:t>3주차에서 모은 자료를 이 챗봇에 넣어 씁니다. 지시문은 4주차에서 다듬어 완성도를 높입니다.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5-5 · 도구 지형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GPTs · Gemini Gems · Claude Projects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3200400"/>
          </a:xfrm>
          <a:prstGeom prst="roundRect">
            <a:avLst>
              <a:gd name="adj" fmla="val 2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 GPTs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 지시문 + 참고파일을 저장해 재사용하는 챗봇을 만드는 기능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566160" cy="3200400"/>
          </a:xfrm>
          <a:prstGeom prst="roundRect">
            <a:avLst>
              <a:gd name="adj" fmla="val 2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43400" y="1965960"/>
            <a:ext cx="3566160" cy="7315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6177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Gems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0175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 생태계(검색·문서) 연동에 강점을 가진 맞춤형 챗봇 기능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965960"/>
            <a:ext cx="3566160" cy="3200400"/>
          </a:xfrm>
          <a:prstGeom prst="roundRect">
            <a:avLst>
              <a:gd name="adj" fmla="val 2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138160" y="196596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4124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Projects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0175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문서·다수 파일을 프로젝트 단위로 모아두고 일관된 맥락으로 대화하는 기능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49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공통점: 세 도구 모두 ‘매번 같은 지시문을 반복 입력하지 않고, 도메인별 톤앤매너와 규칙을 미리 저장해 재사용’하는 것이 핵심 목적입니다. 이번 주에 하나를 골라 직접 만들어봅니다.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93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 실습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도메인별 프롬프트 테스트 → 챗봇 만들기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소재를 뉴스·브랜드·트렌드 3개 도메인 프롬프트로 테스트해 가장 잘 나온 지시문을 고르고, 나만의 도메인 챗봇으로 만들어 봅니다. 그 밖의 실습은 수업 중 그때그때 진행합니다.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64240" cy="1828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주 예고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— 도메인에 맞는 뉴스 세팅하기 (2/3)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도메인의 자료 수집·정제 요령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[MBC 미디어캠퍼스] AI 기반 데이터 저널리스트 양성 과정 · 2주차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· 윤리·법적 점검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기획서에 먼저 적는 윤리·법적 체크리스트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097280" y="189280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실존 인물·기업을 다룬다면 사실 확인과 반론 기회를 계획에 넣었는가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97280" y="276148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쓰려는 이미지·영상·음악의 권리를 확인했는가 — AI 생성물도 예외가 아니다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1097280" y="363016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얼굴·목소리가 나온다면 동의를 받았는가, 실존 인물의 AI 합성은 하지 않는가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1097280" y="449884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협찬·광고 여부와 AI 생성 사실을 어디에, 어떻게 고지할 것인가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점검은 기획서에 한 줄로 남깁니다 — 제작이 끝난 뒤 고치면 이미 늦습니다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2026-09-11T06:45:37Z</dcterms:created>
  <dcterms:modified xsi:type="dcterms:W3CDTF">2026-09-11T06:45:37Z</dcterms:modified>
</cp:coreProperties>
</file>