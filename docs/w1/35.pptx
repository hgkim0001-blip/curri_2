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74" r:id="rId5"/>
    <p:sldId id="259" r:id="rId7"/>
    <p:sldId id="260" r:id="rId8"/>
    <p:sldId id="261" r:id="rId9"/>
    <p:sldId id="262" r:id="rId10"/>
    <p:sldId id="278" r:id="rId11"/>
    <p:sldId id="279" r:id="rId12"/>
    <p:sldId id="263" r:id="rId13"/>
    <p:sldId id="264" r:id="rId14"/>
    <p:sldId id="265" r:id="rId15"/>
    <p:sldId id="266" r:id="rId16"/>
    <p:sldId id="267" r:id="rId17"/>
    <p:sldId id="268" r:id="rId26"/>
    <p:sldId id="269" r:id="rId27"/>
    <p:sldId id="270" r:id="rId28"/>
    <p:sldId id="289" r:id="rId29"/>
    <p:sldId id="290" r:id="rId30"/>
    <p:sldId id="291" r:id="rId31"/>
    <p:sldId id="292" r:id="rId32"/>
    <p:sldId id="293" r:id="rId33"/>
    <p:sldId id="271" r:id="rId34"/>
    <p:sldId id="286" r:id="rId35"/>
    <p:sldId id="287" r:id="rId36"/>
    <p:sldId id="288" r:id="rId37"/>
    <p:sldId id="272" r:id="rId38"/>
    <p:sldId id="27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-114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8319D-61EE-468D-9231-2BA7DAA116F1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9B652-1B3B-490F-AC9C-BD0C83AEB9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77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 과정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오리엔테이션 · 콘텐츠 윤리와 법적 책임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시대 가짜뉴스 대응전략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검증된 사실을 담은 영상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 2h    </a:t>
            </a: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⑭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저널리즘 윤리와 법적 책임  14h    </a:t>
            </a: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 가짜뉴스 대응전략  24h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· 2H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금주의 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과정 정체성 이해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“빠르게 만드는 영상”이 아닌 </a:t>
            </a: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“데이터로 검증된 사실을 담은 영상” </a:t>
            </a:r>
            <a:r>
              <a:rPr lang="en-US" sz="125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파이프라인을 이해한다</a:t>
            </a:r>
            <a:endParaRPr lang="en-US" sz="1250" b="1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572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제작자의 법적 책임 인식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명예훼손·저작권·초상권·표시광고 의무 </a:t>
            </a:r>
            <a:r>
              <a:rPr lang="en-US" sz="125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 콘텐츠 제작자가 반드시 지켜야 할 법적 기준을 안다</a:t>
            </a:r>
            <a:endParaRPr lang="en-US" sz="1250" b="1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2753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허위정보 대응력 확보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만든 가짜뉴스·허위정보를 구별하고, 출처와 원문을 대조해 검증하는 전략을 익힌다</a:t>
            </a:r>
            <a:endParaRPr lang="en-US" sz="1250" b="1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IDENTITY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AI로 빠르게 만드는 영상이 아니라,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데이터로 검증된 사실을 담은 영상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파이프라인 전체를 AI와 함께 직접 실행해 봅니다. 코드도 AI와 함께 작성·실행하며 원리를 익히고, </a:t>
            </a:r>
            <a:r>
              <a:rPr lang="en-US" sz="16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“어떤 도구를 언제 쓸지” </a:t>
            </a:r>
            <a:r>
              <a:rPr lang="en-US" sz="16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판단하는 능력을 기릅니다.</a:t>
            </a:r>
            <a:endParaRPr lang="en-US" sz="1600" b="1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01" name="Box 1"/>
          <p:cNvSpPr/>
          <p:nvPr/>
        </p:nvSpPr>
        <p:spPr>
          <a:xfrm>
            <a:off x="548640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Name 1"/>
          <p:cNvSpPr txBox="1"/>
          <p:nvPr/>
        </p:nvSpPr>
        <p:spPr>
          <a:xfrm>
            <a:off x="548640" y="297180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기획</a:t>
            </a:r>
            <a:endParaRPr lang="en-US" sz="1400" dirty="0"/>
          </a:p>
        </p:txBody>
      </p:sp>
      <p:sp>
        <p:nvSpPr>
          <p:cNvPr id="103" name="Tools 1"/>
          <p:cNvSpPr txBox="1"/>
          <p:nvPr/>
        </p:nvSpPr>
        <p:spPr>
          <a:xfrm>
            <a:off x="548640" y="3383280"/>
            <a:ext cx="1361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기획서 양식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AI챗봇</a:t>
            </a:r>
            <a:endParaRPr lang="en-US" sz="1000" dirty="0"/>
          </a:p>
        </p:txBody>
      </p:sp>
      <p:sp>
        <p:nvSpPr>
          <p:cNvPr id="105" name="Arrow 1"/>
          <p:cNvSpPr txBox="1"/>
          <p:nvPr/>
        </p:nvSpPr>
        <p:spPr>
          <a:xfrm>
            <a:off x="1909789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6" name="Box 2"/>
          <p:cNvSpPr/>
          <p:nvPr/>
        </p:nvSpPr>
        <p:spPr>
          <a:xfrm>
            <a:off x="2165821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Name 2"/>
          <p:cNvSpPr txBox="1"/>
          <p:nvPr/>
        </p:nvSpPr>
        <p:spPr>
          <a:xfrm>
            <a:off x="2165821" y="297180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수집</a:t>
            </a:r>
            <a:endParaRPr lang="en-US" sz="1400" dirty="0"/>
          </a:p>
        </p:txBody>
      </p:sp>
      <p:sp>
        <p:nvSpPr>
          <p:cNvPr id="108" name="Tools 2"/>
          <p:cNvSpPr txBox="1"/>
          <p:nvPr/>
        </p:nvSpPr>
        <p:spPr>
          <a:xfrm>
            <a:off x="2165821" y="3383280"/>
            <a:ext cx="1361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구글시트 IMPORTXML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파이썬(Colab)</a:t>
            </a:r>
            <a:endParaRPr lang="en-US" sz="1000" dirty="0"/>
          </a:p>
        </p:txBody>
      </p:sp>
      <p:sp>
        <p:nvSpPr>
          <p:cNvPr id="110" name="Arrow 2"/>
          <p:cNvSpPr txBox="1"/>
          <p:nvPr/>
        </p:nvSpPr>
        <p:spPr>
          <a:xfrm>
            <a:off x="352697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1" name="Box 3"/>
          <p:cNvSpPr/>
          <p:nvPr/>
        </p:nvSpPr>
        <p:spPr>
          <a:xfrm>
            <a:off x="3783002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Name 3"/>
          <p:cNvSpPr txBox="1"/>
          <p:nvPr/>
        </p:nvSpPr>
        <p:spPr>
          <a:xfrm>
            <a:off x="3783002" y="297180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</a:t>
            </a:r>
            <a:r>
              <a:rPr lang="en-US" sz="1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정제</a:t>
            </a:r>
            <a:endParaRPr lang="en-US" sz="1400" dirty="0"/>
          </a:p>
        </p:txBody>
      </p:sp>
      <p:sp>
        <p:nvSpPr>
          <p:cNvPr id="113" name="Tools 3"/>
          <p:cNvSpPr txBox="1"/>
          <p:nvPr/>
        </p:nvSpPr>
        <p:spPr>
          <a:xfrm>
            <a:off x="3783002" y="3383280"/>
            <a:ext cx="1361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표: 시트 함수·Colab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글: 도메인 챗봇</a:t>
            </a:r>
            <a:endParaRPr lang="en-US" sz="1000" dirty="0"/>
          </a:p>
        </p:txBody>
      </p:sp>
      <p:sp>
        <p:nvSpPr>
          <p:cNvPr id="115" name="Arrow 3"/>
          <p:cNvSpPr txBox="1"/>
          <p:nvPr/>
        </p:nvSpPr>
        <p:spPr>
          <a:xfrm>
            <a:off x="5144151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6" name="Box 4"/>
          <p:cNvSpPr/>
          <p:nvPr/>
        </p:nvSpPr>
        <p:spPr>
          <a:xfrm>
            <a:off x="5400183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Name 4"/>
          <p:cNvSpPr txBox="1"/>
          <p:nvPr/>
        </p:nvSpPr>
        <p:spPr>
          <a:xfrm>
            <a:off x="5400183" y="297180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</a:t>
            </a:r>
            <a:r>
              <a:rPr lang="en-US" sz="1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인사이트</a:t>
            </a:r>
            <a:r>
              <a:rPr lang="en-US" sz="1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1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</a:t>
            </a:r>
            <a:endParaRPr lang="en-US" sz="1400" dirty="0"/>
          </a:p>
        </p:txBody>
      </p:sp>
      <p:sp>
        <p:nvSpPr>
          <p:cNvPr id="118" name="Tools 4"/>
          <p:cNvSpPr txBox="1"/>
          <p:nvPr/>
        </p:nvSpPr>
        <p:spPr>
          <a:xfrm>
            <a:off x="5400183" y="3383280"/>
            <a:ext cx="1361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r>
              <a:rPr lang="en-US" sz="10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sz="800" i="1">
                <a:solidFill>
                  <a:srgbClr val="CADCFC"/>
                </a:solidFill>
              </a:rPr>
              <a:t>(독립 트랙)</a:t>
            </a:r>
            <a:endParaRPr lang="en-US" sz="1000" dirty="0"/>
          </a:p>
        </p:txBody>
      </p:sp>
      <p:sp>
        <p:nvSpPr>
          <p:cNvPr id="120" name="Arrow 4"/>
          <p:cNvSpPr txBox="1"/>
          <p:nvPr/>
        </p:nvSpPr>
        <p:spPr>
          <a:xfrm>
            <a:off x="6761332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1" name="Box 5"/>
          <p:cNvSpPr/>
          <p:nvPr/>
        </p:nvSpPr>
        <p:spPr>
          <a:xfrm>
            <a:off x="7017364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Name 5"/>
          <p:cNvSpPr txBox="1"/>
          <p:nvPr/>
        </p:nvSpPr>
        <p:spPr>
          <a:xfrm>
            <a:off x="7017364" y="297180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스크립트화</a:t>
            </a:r>
            <a:endParaRPr lang="en-US" sz="1400" dirty="0"/>
          </a:p>
        </p:txBody>
      </p:sp>
      <p:sp>
        <p:nvSpPr>
          <p:cNvPr id="123" name="Tools 5"/>
          <p:cNvSpPr txBox="1"/>
          <p:nvPr/>
        </p:nvSpPr>
        <p:spPr>
          <a:xfrm>
            <a:off x="7017364" y="3383280"/>
            <a:ext cx="1361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AI챗봇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기사·시나리오 초고</a:t>
            </a:r>
            <a:endParaRPr lang="en-US" sz="1000" dirty="0"/>
          </a:p>
        </p:txBody>
      </p:sp>
      <p:sp>
        <p:nvSpPr>
          <p:cNvPr id="125" name="Arrow 5"/>
          <p:cNvSpPr txBox="1"/>
          <p:nvPr/>
        </p:nvSpPr>
        <p:spPr>
          <a:xfrm>
            <a:off x="8378513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6" name="Box 6"/>
          <p:cNvSpPr/>
          <p:nvPr/>
        </p:nvSpPr>
        <p:spPr>
          <a:xfrm>
            <a:off x="8634545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Name 6"/>
          <p:cNvSpPr txBox="1"/>
          <p:nvPr/>
        </p:nvSpPr>
        <p:spPr>
          <a:xfrm>
            <a:off x="8634545" y="297180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 팩트체크</a:t>
            </a:r>
            <a:endParaRPr lang="en-US" sz="1400" dirty="0"/>
          </a:p>
        </p:txBody>
      </p:sp>
      <p:sp>
        <p:nvSpPr>
          <p:cNvPr id="128" name="Tools 6"/>
          <p:cNvSpPr txBox="1"/>
          <p:nvPr/>
        </p:nvSpPr>
        <p:spPr>
          <a:xfrm>
            <a:off x="8634545" y="3383280"/>
            <a:ext cx="1361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코드(Python) 분석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NotebookLM(보조)</a:t>
            </a:r>
            <a:endParaRPr lang="en-US" sz="1000" dirty="0"/>
          </a:p>
        </p:txBody>
      </p:sp>
      <p:sp>
        <p:nvSpPr>
          <p:cNvPr id="130" name="Arrow 6"/>
          <p:cNvSpPr txBox="1"/>
          <p:nvPr/>
        </p:nvSpPr>
        <p:spPr>
          <a:xfrm>
            <a:off x="999569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1" name="Box 7"/>
          <p:cNvSpPr/>
          <p:nvPr/>
        </p:nvSpPr>
        <p:spPr>
          <a:xfrm>
            <a:off x="10251726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Name 7"/>
          <p:cNvSpPr txBox="1"/>
          <p:nvPr/>
        </p:nvSpPr>
        <p:spPr>
          <a:xfrm>
            <a:off x="10251726" y="297180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⑦ 영상화</a:t>
            </a:r>
            <a:endParaRPr lang="en-US" sz="1400" dirty="0"/>
          </a:p>
        </p:txBody>
      </p:sp>
      <p:sp>
        <p:nvSpPr>
          <p:cNvPr id="133" name="Tools 7"/>
          <p:cNvSpPr txBox="1"/>
          <p:nvPr/>
        </p:nvSpPr>
        <p:spPr>
          <a:xfrm>
            <a:off x="10251726" y="3383280"/>
            <a:ext cx="1361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삽화·영상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시각화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Pr·AE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Label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137" name="Title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7단계에서 쓰는 도구 한눈에 보기</a:t>
            </a:r>
            <a:endParaRPr lang="en-US" sz="2800" dirty="0"/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48640" y="1371600"/>
          <a:ext cx="11064240" cy="42793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/>
                <a:gridCol w="2651760"/>
                <a:gridCol w="5120640"/>
                <a:gridCol w="15544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단계</a:t>
                      </a:r>
                    </a:p>
                  </a:txBody>
                  <a:tcPr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하는 일</a:t>
                      </a:r>
                    </a:p>
                  </a:txBody>
                  <a:tcPr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사용 도구</a:t>
                      </a:r>
                    </a:p>
                  </a:txBody>
                  <a:tcPr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배치 주차</a:t>
                      </a:r>
                    </a:p>
                  </a:txBody>
                  <a:tcPr marT="36576" marB="36576"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① 기획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주제·목적·대상 정하고 기획서 작성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기획서 양식 · AI챗봇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2주 · 8·12·15주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② 수집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공개 데이터·기사 자동 수집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AI 검색 3종(후보 발굴) · 구글시트 IMPORTXML 템플릿 · 파이썬(Colab) 완성 노트북 · Apps Script 자동수집 · 공공 API(제공)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2~3주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③ 정제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표 정리(중복·오류·형식) + 원자료를 글로 다듬기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표 정리: 구글시트 함수 · Colab 노트북 / 글 정리: 2주차에 만든 도메인 챗봇 (Gemini Gems · Claude Projects)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3~4주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④ 인사이트 분석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데이터 분석(집계·비교·추세 확인) → 의미 해석(데이터가 향하는 방향, 소비자의 속마음)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AI챗봇 자연어 분석 질문(ChatGPT·Claude)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4주 · 12주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63946"/>
                          </a:solidFill>
                          <a:latin typeface="Calibri"/>
                          <a:ea typeface="Calibri"/>
                          <a:cs typeface="Calibri"/>
                        </a:rPr>
                        <a:t>⑤ 스크립트화</a:t>
                      </a:r>
                    </a:p>
                  </a:txBody>
                  <a:tcPr marT="36576" marB="36576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검증된 데이터로 대본 작성</a:t>
                      </a:r>
                    </a:p>
                  </a:txBody>
                  <a:tcPr marT="36576" marB="36576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전용 AI챗봇 (방송뉴스원고봇·톤앤매너봇) · Gemini Gems</a:t>
                      </a:r>
                    </a:p>
                  </a:txBody>
                  <a:tcPr marT="36576" marB="36576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3~4주 · 각 프로젝트</a:t>
                      </a:r>
                    </a:p>
                  </a:txBody>
                  <a:tcPr marT="36576" marB="36576" anchor="ctr">
                    <a:solidFill>
                      <a:srgbClr val="FDE8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⑥ 팩트체크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대본 속 숫자·순위·연도를 정제데이터와 자동 대조(원칙) + 출처 검증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코드(Python/Colab) 분석 · NotebookLM(보조) · Fact Check API · AI검색 교차검증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1주 · 8주 · 10~11주</a:t>
                      </a:r>
                    </a:p>
                  </a:txBody>
                  <a:tcPr marT="36576" marB="36576" anchor="ctr">
                    <a:solidFill>
                      <a:srgbClr val="F1F3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⑦ 영상화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AI 생성 + 데이터 시각화 + 편집으로 완성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AI 이미지·영상(Midjourney·Flow·Kling) · 데이터 시각화(Flourish·Matplotlib) · HeyGen·ElevenLabs·Suno · Premiere · After Effects(템플릿) · Photoshop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63A"/>
                          </a:solidFill>
                          <a:latin typeface="Calibri"/>
                          <a:ea typeface="Calibri"/>
                          <a:cs typeface="Calibri"/>
                        </a:rPr>
                        <a:t>5~9주 · 13~16주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Page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16주 로드맵 한눈에 보기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13232" y="20756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4231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OT·윤리·가짜뉴스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3593592" y="20756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4231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세팅 (120h)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73952" y="20756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4231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영상 제작·자동화 (120h)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9354312" y="20756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8-9주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54312" y="24231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활용 + 프로젝트1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13232" y="34472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10-11주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7947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팩트체킹 (80h)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29000" y="33375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3593592" y="34472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12-13주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593592" y="37947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탐사보도 + 프로젝트2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3375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73952" y="34472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13-14주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7947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시각화 (48h)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89720" y="33375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9354312" y="34472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15-16주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54312" y="37947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프로젝트3 + 수료식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우리는 여기서 시작합니다 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저널리즘 윤리와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법적 책임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14시간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1887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저널리즘 윤리와 사회적 책임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9659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언론법과 법적 책임 (명예훼손·저작권·초상권)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7432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인플루언서 표시광고법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3520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AI콘텐츠 시대의 미디어 리터러시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297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윤리적 제작 사례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 · 저널리즘 윤리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저널리즘 윤리와 사회적 책임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진실 추구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 확인 없는 속보 경쟁은 오보로 이어진다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044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47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한쪽 입장만 전달하지 않는다 — 브랜드 콘텐츠도 동일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77240" y="4187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책임성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90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제작자는 자신이 만든 콘텐츠의 파급력을 책임진다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5303520" cy="3429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브랜드·유튜브 콘텐츠에도 적용되는가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과거에는 ‘기자’만 지키면 되는 규범이었지만, 지금은 유튜버·마케터·소상공인도 대중에게 영향을 미치는 콘텐츠 제작자입니다. AI로 제작 속도가 빨라질수록 검증 없는 콘텐츠의 확산 속도와 피해 규모도 함께 커집니다.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· 언론법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명예훼손 — 사실이어도 책임질 수 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사실 적시 명예훼손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249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형법 제307조 제1항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사실이라도 공연히 특정인의 사회적 평가를 저하시키면 성립 가능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49224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허위사실 적시 명예훼손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249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형법 제307조 제2항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20040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허위임을 알면서 유포 시 가중처벌 (5년 이하 징역)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포인트: “사실이니까 괜찮다”는 방어 논리가 통하지 않는 경우가 많습니다 — 위법성 조각 요건(공공의 이익·진실성)을 충족해야 면책됩니다.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· 명예훼손 사례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사실 적시 명예훼손 — 주요 사례와 쟁점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처벌 현실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2014~2023년 형사절차에 간 사건 2,556건, 유죄 비율 79~89%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044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헌법재판소 2021.2.25. — 합헌 (5:4)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47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동물병원 진료 분쟁을 SNS·책으로 알린 사건 — 형벌 필요성과 표현의 자유가 팽팽히 맞섬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77240" y="4187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대법원 2022.7.28. — 파기환송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90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의료사고 유족의 전단지 배포 — 진실하고 공공의 이익이면 처벌하지 않는다(형법 310조)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5303520" cy="3429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폐지·축소 논의 (2026.10 기준)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형법 307조 1항은 1953년 제정 이후 한 번도 개정되지 않았습니다. 2025년 폐지안이 발의됐고, 2026년 7월에는 ‘사생활에 관한 중대한 비밀’ 공개만 처벌하자는 개정안이 발의됐지만 아직 국회를 통과하지 못했습니다. 인권위는 2026년 10월 판단을 보류했습니다. 지금은 처벌이 가능한 조항입니다.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· 명예훼손 사례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허위사실 적시 명예훼손 — 검증 없는 폭로의 대가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밀양 사건 신상 공개 유튜버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 6월경 가해자 신상을 공개하면서 가해자가 아닌 사람까지 지목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044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창원지법 2025.4.18. 선고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47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운영자 징역 3년, 영상 제작자 징역 2년 6개월 (정보통신망법·스토킹처벌법 위반)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77240" y="4187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“공익” 주장은 받아들여지지 않음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90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재판부: “사적 응징은 어떤 명분으로도 정당화될 수 없다” — 실질 동기는 광고 수익으로 판단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5303520" cy="3429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포인트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객관적이고 충분한 검증 없이 단정하면 허위사실이 됩니다. 사실 적시는 ‘진실+공공의 이익’이면 면책될 수 있지만, 허위는 그렇지 않습니다. 그래서 기획서에 검증 계획을 먼저 적고, ⑥ 팩트체크를 거칩니다. (형법 307조 2항: 5년 이하 징역·10년 이하 자격정지 또는 1천만원 이하 벌금)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· 저작권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저작권 — 유튜브 Content ID 시스템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ID 매칭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874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 영상이 저작권자 등록 콘텐츠와 일치하면 자동 감지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저작권자의 선택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834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 / 수익 공유 / 시청 데이터 추적 중 선택 가능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 위반 경고(스트라이크)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7947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3회 누적 시 채널 삭제 — AI 생성물도 원본 저작권 예외 아님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54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이용(Fair Use)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754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비평·패러디·교육 목적이라도 자동 면책되지 않음 — 개별 판단 필요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· 초상권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초상권 — 얼굴과 목소리를 다룰 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동의 없는 촬영·공표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타인의 얼굴·신체를 동의 없이 촬영해 공개하면 초상권 침해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61772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합성·딥페이크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200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실존 인물의 얼굴을 AI로 합성해 사용 시 초상권 + 명예훼손 이중 리스크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41248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공인의 예외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200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공적 인물도 사생활 영역까지 자유롭게 다룰 수 있는 것은 아님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· 표시광고법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인플루언서 표시광고법 체크리스트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097280" y="18928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협찬·광고 여부를 영상 제목이 아닌 ‘본문 시작 전’ 명확히 표기했는가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276148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텍스트는 배경과 구분되는 색·크기로, 최소 5초 이상 노출했는가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097280" y="36301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언급 시 시청자가 놓치지 않을 위치·속도로 고지했는가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097280" y="44988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‘내돈내산’처럼 광고를 협찬 아닌 것처럼 표현하지 않았는가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공정위 《추천·보증 등에 관한 표시·광고 심사지침》 — 위반 시 광고주 시정명령·과징금 등 (표기 의무는 제작자도 준수)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 · 미디어 리터러시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AI콘텐츠 시대의 미디어 리터러시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291840"/>
          </a:xfrm>
          <a:prstGeom prst="roundRect">
            <a:avLst>
              <a:gd name="adj" fmla="val 194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급증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97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텍스트·이미지·영상 전 영역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19659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출처가 불분명한 콘텐츠를 소비자가 ‘진짜’로 오인하는 빈도 증가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301752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법적 의무는 AI 사업자 중심 — 하지만 오인될 수 있는 AI 제작물은 제작자가 먼저 밝히는 것이 원칙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406908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소비자에게는 출처·워터마크·역검색 등 스스로 검증하는 습관이 요구됨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·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윤리적 제작 사례 — 뉴스 · 브랜드 · 유튜브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정정보도문을 기사와 동일한 노출 위치에 게재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61772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 콘텐츠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9260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모델 이미지에 ‘AI 생성’ 워터마크 명시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41248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유튜브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9260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협찬 문구를 영상 시작 3초 내 자막으로 고지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시대의</a:t>
            </a:r>
            <a:endParaRPr lang="en-US" sz="28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가짜뉴스 대응전략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1887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가짜뉴스와 정보조작의 이해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659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딥페이크·AI 생성 허위정보 사례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7432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AI 기반 팩트체크 원리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3520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정보검증 전략 체크리스트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4297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제작자로서의 역할과 신뢰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 ·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가짜뉴스, 세 가지로 구분해서 본다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429000"/>
          </a:xfrm>
          <a:prstGeom prst="roundRect">
            <a:avLst>
              <a:gd name="adj" fmla="val 18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오정보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틀린 정보지만 퍼뜨리는 사람은 사실이라 믿음 (악의 없음)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3429000"/>
          </a:xfrm>
          <a:prstGeom prst="roundRect">
            <a:avLst>
              <a:gd name="adj" fmla="val 18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61772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Disinformation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허위정보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거짓임을 알면서도 의도적으로 유포 (악의적 조작)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66160" cy="3429000"/>
          </a:xfrm>
          <a:prstGeom prst="roundRect">
            <a:avLst>
              <a:gd name="adj" fmla="val 18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41248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Malinformation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악용정보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사실이지만 해를 끼칠 목적으로 맥락을 왜곡해 유포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 ·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딥페이크 · AI 생성 허위정보의 확산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합성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6596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유명인 목소리를 복제해 허위 발언을 ‘사실처럼’ 유포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합성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0175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실존 인물의 얼굴에 다른 행동을 합성 — 정치·연예 분야 악용 사례 다수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22960" y="4069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생성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40690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챗봇이 존재하지 않는 통계·인용을 ‘그럴듯하게’ 생성(할루시네이션)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· 팩트체크 도구 선택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의심하느냐에 따라 도구가 다릅니다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영상·이미지가 진짜인가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역검색 + 구글 AI 모드·Hive 확인 + 이상 징후 확인 → 검증 5단계 중 4·5단계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주장·수치가 맞는가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NotebookLM에 1차 자료를 올려 대조 → 검증 5단계 중 1·2단계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 나온 얘기인가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검색(Perplexity 등)은 출처 후보를 찾는 발견용 — 근거는 직접 확인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①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NotebookLM은 가짜 영상을 판별하지 못한다 — 올린 자료와 대조해 줄 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②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도구도 단독 판정 근거가 되지 못한다 — 결론은 사람이 내리고 기록한다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· 영상 판별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사례 — “번지점프 줄이 끊긴 실제 사고 영상”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주장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산악지대 번지점프 중 줄이 끊겨 남성이 추락한 ‘실제 사고 영상’ (15초)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영상으로 판정 — 2025.12.28 인도 팩트체크 매체 보도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확산 경과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2025.12.24 X에 최초 업로드 → 2026.9월 한국에서 재확산 (약 9개월 뒤)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도구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Moderation 83.4% AI 생성 판정, 다른 도구는 98% 판정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눈으로 본 단서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줄이 흐려지다 사라짐 · 인물과 장비 형태가 계속 바뀜 · 마지막에 과장된 먼지구름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· 영상 판별 방법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 판별, 이렇게 따라 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캡처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장면 3~5컷 캡처 → 이미지 역검색 (구글 이미지·TinEye·네이버 스마트렌즈 등, 다음 장 참고)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 업로드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오래된 게시물과 날짜를 찾는다 — 오래된 영상의 재확산인지 확인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판별 도구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AI 모드에 질문하거나 Hive에 올려 AI 생성 확률 확인 — 둘 다 추정이므로 참고용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징후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사라지는 물체, 변하는 형태, 어색한 물리 현상을 프레임 단위로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기록하기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생성으로 판단됨 (근거 3가지)”로 쓴다 — 100% 단정 표현은 피한다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· 영상 판별 도구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 역검색 도구 — 이름과 주소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이미지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images.google.com — 카메라 아이콘(구글 렌즈)으로 업로드 · 가장 쉬운 시작점 · AI 생성 여부도 질문 가능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TinEye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tineye.com — 같은 이미지가 어디에 먼저 올라왔는지 찾기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시각 검색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bing.com/visualsearch — 구글과 결과가 달라서 교차 확인용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이미지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yandex.com/images — 얼굴·장소가 비슷한 이미지 검색에 쓰임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스마트렌즈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m.naver.com 또는 네이버 앱 검색창의 카메라 아이콘 — 국내 게시물 확인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· 영상 판별 도구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 AI 판별 도구 — 이름과 주소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AI 모드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 → 검색창 ‘AI 모드’ → + 버튼으로 영상 파일 업로드 → “이 영상은 AI로 만들어진 것인가?” 질문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Moderation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thehive.ai/demos/ai-generated-content-detection — 영상·이미지·오디오를 올리면 AI 생성 확률과 의심 구간을 표시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검색 도구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 → 검색 후 ‘도구 → 기간’ 설정으로 오래된 게시물 찾기 (최초 업로드 추적)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사용 주의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촬영으로 보이는 영상이 AI 60.1%로 나온 사례 — 점수만으로 결론 내리지 않기 · 가입·유료 안내가 나올 수 있음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꼭 기억하기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판단은 추정일 뿐 — 역검색·최초 업로드와 함께 확인 / 주소·화면은 바뀔 수 있음 / 결과 없음 ≠ 가짜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· 주장·수치 검증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NotebookLM으로 주장·수치 검증, 어떻게 작동하나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업로드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36118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입력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922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대조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89720" y="237744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3726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제시 답변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233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방식: 업로드한 자료 ‘안에서만’ 답을 찾기 때문에, 모델이 자료에 없는 내용을 지어내는 할루시네이션 위험이 크게 줄어듭니다 — 이것이 RAG(검색증강생성)의 핵심 원리입니다.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· 주장·수치 검증 따라 하기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NotebookLM으로 팩트체크 — 이렇게 따라 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만들기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notebooklm.google.com 접속 → 구글 계정 로그인 → ‘새 노트북’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추가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검증에 쓸 원문 자료 올리기 — PDF, 구글 문서, 웹사이트 링크, 붙여넣은 텍스트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고르기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출처(법령·판결·공식 발표)를 넣는다 — 의심되는 기사만 넣으면 검증이 안 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주장 쪼개기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확인할 문장을 사실 하나씩 나눠 채팅창에 질문한다 (수치·날짜·인물 따로)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인용 열어보기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답변의 인용 번호를 눌러 원문 해당 위치와 내 질문이 맞는지 직접 대조한다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· 주장·수치 검증 질문법과 한계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질문은 이렇게, 결과는 이렇게 읽는다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예시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자료에서 ○○의 근거 문장을 찾아줘. 없으면 ‘자료에 없음’이라고 답해줘”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확인할 것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인용된 위치가 질문과 실제로 맞는가 — 인용 번호가 있다고 정확한 것은 아님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①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넣은 자료가 틀리면 답도 틀린다 — 자료 자체가 믿을 만한지는 따로 확인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②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자료에 없으면 판단하지 못한다 — ‘자료에 없음’은 ‘거짓’이라는 뜻이 아님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③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표·이미지가 많은 자료는 내용을 놓칠 수 있다 — 중요한 수치는 원문에서 다시 확인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· 주장·수치 검증 예시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예시 — 기사 속 숫자, 이렇게 검증합니다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확인할 주장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기사: “A시가 청년에게 월 50만 원씩 6개월간 지원한다” (가상 예시)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올린 자료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A시 청년지원 공고문 PDF — 1차 출처 (가상 예시)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“지원 금액과 기간, 대상 연령의 근거 문장을 찾아줘. 없으면 ‘자료에 없음’이라고 답해줘”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“월 30만 원, 6개월, 만 19~34세 [1]” — 인용 [1]을 누르면 공고문 해당 문단이 열림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판정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기사의 50만 원 ≠ 공고문의 30만 원 → 기사 오류 의심, 담당 부서·원문 재확인 후 기록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2-6 · 실전 체크리스트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소비자·제작자의 정보검증 5단계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확인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출처인가, 재인용인가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검증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사실을 다루는 다른 매체가 있는가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맥락 확인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언제·왜 작성되었는가, 맥락이 잘렸는가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이미지·영상 역검색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이미지가 다른 사건에서도 쓰였는가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여부 확인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워터마크·메타데이터·탐지 도구로 확인했는가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가짜뉴스 · 허위콘텐츠 구별 실습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워크시트의 5개 사례를 검증 5단계로 판별하고, 영상·이미지는 역검색과 AI 판별 도구로, 주장·수치는 NotebookLM으로 확인해 기록합니다.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1828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예고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— 도메인에 맞는 뉴스 세팅하기 (1/3)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뉴스·브랜드·트렌드 도메인 기획, 도메인별 챗봇 만들기(Gemini Gems·Claude Projects)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[MBC 미디어캠퍼스] AI 기반 데이터 저널리스트 양성 과정 · 1주차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3288</Words>
  <Application>Microsoft Office PowerPoint</Application>
  <PresentationFormat>사용자 지정</PresentationFormat>
  <Paragraphs>568</Paragraphs>
  <Slides>38</Slides>
  <Notes>18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3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KHG</cp:lastModifiedBy>
  <cp:revision>5</cp:revision>
  <dcterms:created xsi:type="dcterms:W3CDTF">2026-09-11T05:07:52Z</dcterms:created>
  <dcterms:modified xsi:type="dcterms:W3CDTF">2026-10-07T12:06:07Z</dcterms:modified>
</cp:coreProperties>
</file>