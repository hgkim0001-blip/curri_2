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640080"/>
            <a:ext cx="5852160" cy="58521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82880"/>
            <a:ext cx="6766560" cy="67665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097280"/>
            <a:ext cx="457200" cy="32004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3108960"/>
            <a:ext cx="548640" cy="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309360" y="4846320"/>
            <a:ext cx="457200" cy="27432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⑥ 데이터 시각화 뉴스 콘텐츠 제작 (마무리)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005840"/>
            <a:ext cx="6035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숫자를 화면으로 —</a:t>
            </a:r>
            <a:endParaRPr lang="en-US" sz="3600" dirty="0"/>
          </a:p>
          <a:p>
            <a:pPr indent="0" marL="0">
              <a:buNone/>
            </a:pPr>
            <a:r>
              <a:rPr lang="en-US" sz="36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방송 CG로 완성하는 데이터 시각화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 rot="-360000">
            <a:off x="5943600" y="2743200"/>
            <a:ext cx="5760720" cy="13462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-360000">
            <a:off x="6126480" y="2743200"/>
            <a:ext cx="539496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Matplotlib · Flourish · After Effects · Photoshop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845820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160520"/>
            <a:ext cx="8458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막대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04188" y="4160520"/>
            <a:ext cx="628650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04188" y="4160520"/>
            <a:ext cx="6286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242566" y="4160520"/>
            <a:ext cx="845820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42566" y="4160520"/>
            <a:ext cx="8458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도넛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198114" y="4160520"/>
            <a:ext cx="845820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98114" y="4160520"/>
            <a:ext cx="8458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153662" y="4160520"/>
            <a:ext cx="845820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53662" y="4160520"/>
            <a:ext cx="8458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937760"/>
            <a:ext cx="530352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정확하게 그리고, 한 장에 한 메시지로 보여준다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89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AI 기반 데이터 저널리스트 양성 과정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14주차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 · 이번 주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목표 — 정확하게 그리고, 방송 화면으로 마감한다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270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⑥ 데이터 시각화 마무리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11120"/>
            <a:ext cx="546354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11120"/>
            <a:ext cx="868680" cy="8890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11120"/>
            <a:ext cx="86868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684272"/>
            <a:ext cx="421081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 고르는 눈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964688"/>
            <a:ext cx="4210812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전하고 싶은 말에 맞는 차트를 고르고, 왜곡 함정을 스스로 찾아 고친다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573272"/>
            <a:ext cx="546354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573272"/>
            <a:ext cx="868680" cy="8890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73272"/>
            <a:ext cx="86868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646424"/>
            <a:ext cx="421081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정확한 차트 완성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926840"/>
            <a:ext cx="4210812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코랩(Matplotlib·Seaborn)으로 방송 화면에 맞는 PNG를 만든다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6772" y="2611120"/>
            <a:ext cx="546354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6772" y="2611120"/>
            <a:ext cx="868680" cy="8890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6772" y="2611120"/>
            <a:ext cx="86868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7228332" y="2684272"/>
            <a:ext cx="421081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움직이는 차트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228332" y="2964688"/>
            <a:ext cx="4210812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Flourish로 움직이는 그래프를 만들고 영상 소스로 확보한다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76772" y="3573272"/>
            <a:ext cx="546354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6772" y="3573272"/>
            <a:ext cx="868680" cy="8890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6772" y="3573272"/>
            <a:ext cx="86868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7228332" y="3646424"/>
            <a:ext cx="421081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CG로 마감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228332" y="3926840"/>
            <a:ext cx="4210812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 Effects·Photoshop·Premiere로 한 장 한 메시지 CG 시퀀스를 완성한다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608576"/>
            <a:ext cx="5463540" cy="9947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608576"/>
            <a:ext cx="82296" cy="99479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5528" y="4809744"/>
            <a:ext cx="5015484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5일차  8h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" y="5171059"/>
            <a:ext cx="501548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76772" y="4608576"/>
            <a:ext cx="5463540" cy="9947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6772" y="4608576"/>
            <a:ext cx="82296" cy="99479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23660" y="4809744"/>
            <a:ext cx="5015484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14주차 40h  (5일 × 8h)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6423660" y="5171059"/>
            <a:ext cx="501548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5767959"/>
            <a:ext cx="11091672" cy="54203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9808" y="5767959"/>
            <a:ext cx="10689336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데이터 시각화 뉴스 콘텐츠 제작 = 13주차 8h + 14주차 40h = 48h 완료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시각화 원칙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시각화는 방송에서 CG다 — 네 가지 원칙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260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⑥ 데이터 시각화 마무리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10080"/>
            <a:ext cx="11091672" cy="784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10080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910080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1983232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장, 한 메시지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324608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 하나는 문장 하나를 증명한다. 제목이 결론 문장이면 시청자가 바로 이해한다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2768092"/>
            <a:ext cx="11091672" cy="784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768092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768092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2841244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3초 안에 읽힌다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182620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시청자는 멈춰서 볼 수 없다. 항목은 줄이고 강조는 하나만 — 나머지는 회색으로 물러선다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3626104"/>
            <a:ext cx="11091672" cy="784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626104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626104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699256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기준을 화면에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040632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셌는지·기준 시점·출처를 자막으로 남긴다. 13주차 숫자 점검표가 곧 CG 자막이 된다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48640" y="4484116"/>
            <a:ext cx="11091672" cy="784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484116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484116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4557268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규격에 맞춘다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600200" y="4898644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16:9, 1920×1080에 맞춰 만들고, 글자는 크게, 가장자리 여백은 지킨다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48640" y="5415280"/>
            <a:ext cx="11091672" cy="60807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5415280"/>
            <a:ext cx="1068933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차트를 '그린다'가 아니라, 보여주고 싶은 한 문장을 CG로 번역한다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시각화 원칙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차트는 '하고 싶은 말'로 고른다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428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⑥ 데이터 시각화 마무리 · MBC 미디어캠퍼스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26920"/>
          <a:ext cx="11091672" cy="914400"/>
        </p:xfrm>
        <a:graphic>
          <a:graphicData uri="http://schemas.openxmlformats.org/drawingml/2006/table">
            <a:tbl>
              <a:tblPr/>
              <a:tblGrid>
                <a:gridCol w="3910170"/>
                <a:gridCol w="2224478"/>
                <a:gridCol w="4957024"/>
              </a:tblGrid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시청자에게 하고 싶은 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방송에서의 팁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A가 B보다 크다 (항목 비교)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막대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 이름이 길면 가로 막대, 큰 순서로 정렬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시간에 따라 변했다 (추이)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기간을 충분히 잡고, 강조할 구간 하나만 색을 준다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전체에서 이만큼 차지한다 (비중)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도넛·파이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항목은 5개 이하. 그 이상이면 막대로 바꾼다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둘이 관련 있다 (관계·분포)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산점도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보기만 해서는 안 읽힌다 — 한 줄 해석 자막을 붙인다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지역마다 다르다 (공간)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큰 지역이 커 보이는 착시에 주의, 값은 라벨로 병기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돈·사람이 어디로 흘렀다 (흐름)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흐름도(Sankey)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Flourish 템플릿 활용, 항목 수를 줄여 단순하게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4949190"/>
            <a:ext cx="11091672" cy="6741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4949190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'○○는 △△하다'를 한 문장으로 쓰고, 그다음에 차트를 고른다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왜곡 함정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① 축을 자르면 작은 차이가 커 보인다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6761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⑥ 데이터 시각화 마무리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51660"/>
            <a:ext cx="5463540" cy="125387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51660"/>
            <a:ext cx="82296" cy="125387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205282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축이 50에서 시작한 경우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541143"/>
            <a:ext cx="501548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76772" y="1851660"/>
            <a:ext cx="5463540" cy="125387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6772" y="1851660"/>
            <a:ext cx="82296" cy="125387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3660" y="205282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축이 0에서 시작한 경우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6423660" y="2541143"/>
            <a:ext cx="501548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48640" y="3270123"/>
            <a:ext cx="11091672" cy="140055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270123"/>
            <a:ext cx="10689336" cy="1400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52 대 54 (가상 수치). 왼쪽은 B가 A의 2배로 보이고, 오른쪽은 약 4% 차이로 보인다.  규칙: 막대 차트의 축은 0에서 시작한다. 선 차트는 자를 수 있지만 잘랐다는 사실을 표시한다.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왜곡 함정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103327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왜곡 함정 다섯 가지 — 보이면 이렇게 고친다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7998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⑥ 데이터 시각화 마무리 · MBC 미디어캠퍼스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64030"/>
          <a:ext cx="11091672" cy="914400"/>
        </p:xfrm>
        <a:graphic>
          <a:graphicData uri="http://schemas.openxmlformats.org/drawingml/2006/table">
            <a:tbl>
              <a:tblPr/>
              <a:tblGrid>
                <a:gridCol w="2944610"/>
                <a:gridCol w="3854248"/>
                <a:gridCol w="4292814"/>
              </a:tblGrid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함정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이렇게 보인다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이렇게 고친다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축 자르기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작은 차이가 크게 보인다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막대는 0에서 시작, 선은 자른 사실을 표시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2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3D·장식 효과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뒤쪽 막대가 작아 보이고 값을 읽기 어렵다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2D 평면으로, 장식 아이콘은 최소화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802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기준 누락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건수인지 비율인지, 어느 기간인지 알 수 없다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제목·자막에 단위·기간·분모를 쓴다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색이 너무 많다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어디를 봐야 할지 모른다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강조색 1개 + 회색. 의미 없는 무지개 금지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802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일부 구간만 보여주기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추세가 실제와 다르게 보인다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기간을 충분히 잡고, 구간을 고른 이유를 밝힌다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860542"/>
            <a:ext cx="11091672" cy="6741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60542"/>
            <a:ext cx="10908792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1일차 실습  강사가 준비한 '잘못된 차트' 5장에서 함정을 찾아 → 코랩·Flourish로 고쳐 그린다. 화면에 머무는 시간이 너무 짧은 것도 함정 — Premiere에서 컷 길이로 점검한다.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방송용 규격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만들기 전에 규격부터 정한다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3050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⑥ 데이터 시각화 마무리 · MBC 미디어캠퍼스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14550"/>
          <a:ext cx="11091672" cy="914400"/>
        </p:xfrm>
        <a:graphic>
          <a:graphicData uri="http://schemas.openxmlformats.org/drawingml/2006/table">
            <a:tbl>
              <a:tblPr/>
              <a:tblGrid>
                <a:gridCol w="2227937"/>
                <a:gridCol w="4101611"/>
                <a:gridCol w="4762124"/>
              </a:tblGrid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강의 기준 (권장)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화면비·해상도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16:9 · 1920×1080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Premiere 시퀀스와 같게 — 확대·축소 없이 얹는다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여백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가장자리 여백(안전영역 가이드) 확보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TV·플랫폼에 따라 가장자리가 잘릴 수 있다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글자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본문 라벨도 크게, 제목은 한두 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스마트폰과 TV 모두에서 읽혀야 한다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강조색 1개 + 회색·남색, 배경과 대비 확보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시선을 한 곳으로 모으고 가독성을 지킨다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폰트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나눔고딕 계열로 통일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코랩·PS·AE에서 한글 깨짐을 막고 톤을 맞춘다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PNG (필요할 때 투명 배경)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Premiere·AE에서 바로 불러와 얹을 수 있다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036820"/>
            <a:ext cx="11091672" cy="6741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5036820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프로젝트3 다큐의 CG도 같은 규격으로 만든다 — 지금 몸에 익혀 두자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Matplotlib·Seaborn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코랩 노트북은 세 셀 — 학생은 세 곳만 바꾼다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6761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⑥ 데이터 시각화 마무리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51660"/>
            <a:ext cx="3441192" cy="9994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51660"/>
            <a:ext cx="3441192" cy="612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" y="1997964"/>
            <a:ext cx="28337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환경 설정 셀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" y="2537460"/>
            <a:ext cx="2833726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폰트·라이브러리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373880" y="1851660"/>
            <a:ext cx="3441192" cy="9994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3880" y="1851660"/>
            <a:ext cx="3441192" cy="612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0184" y="1997964"/>
            <a:ext cx="28337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데이터 셀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4520184" y="2537460"/>
            <a:ext cx="2833726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CSV·시트 연결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199120" y="1851660"/>
            <a:ext cx="3441192" cy="9994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9120" y="1851660"/>
            <a:ext cx="3441192" cy="612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45424" y="1997964"/>
            <a:ext cx="28337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차트 셀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8345424" y="2537460"/>
            <a:ext cx="2833726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그리기·저장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548640" y="3015742"/>
            <a:ext cx="3587496" cy="21797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015742"/>
            <a:ext cx="82296" cy="21797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3216910"/>
            <a:ext cx="313944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학생이 바꾸는 곳 (3곳)</a:t>
            </a:r>
            <a:endParaRPr lang="en-US" sz="23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" y="3673475"/>
            <a:ext cx="313944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데이터 경로(내 파일)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차트 제목 문구 (결론 문장)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강조할 항목 이름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300728" y="3015742"/>
            <a:ext cx="3587496" cy="21797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00728" y="3015742"/>
            <a:ext cx="82296" cy="21797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47616" y="3216910"/>
            <a:ext cx="313944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강사가 준비한 것</a:t>
            </a:r>
            <a:endParaRPr lang="en-US" sz="2300" dirty="0"/>
          </a:p>
        </p:txBody>
      </p:sp>
      <p:sp>
        <p:nvSpPr>
          <p:cNvPr id="29" name="Text 27"/>
          <p:cNvSpPr txBox="1"/>
          <p:nvPr/>
        </p:nvSpPr>
        <p:spPr>
          <a:xfrm>
            <a:off x="4547616" y="3673475"/>
            <a:ext cx="313944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나눔고딕 설정, 색 팔레트, 16:9 크기,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자막 위치, 저장 코드까지 노트북에 포함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052816" y="3015742"/>
            <a:ext cx="3587496" cy="21797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52816" y="3015742"/>
            <a:ext cx="82296" cy="21797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9704" y="3216910"/>
            <a:ext cx="313944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순서</a:t>
            </a:r>
            <a:endParaRPr lang="en-US" sz="2300" dirty="0"/>
          </a:p>
        </p:txBody>
      </p:sp>
      <p:sp>
        <p:nvSpPr>
          <p:cNvPr id="33" name="Text 31"/>
          <p:cNvSpPr txBox="1"/>
          <p:nvPr/>
        </p:nvSpPr>
        <p:spPr>
          <a:xfrm>
            <a:off x="8299704" y="3673475"/>
            <a:ext cx="313944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위에서 아래로 한 셀씩 실행.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바뀌면 ②→③만 다시 실행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548640" y="5360035"/>
            <a:ext cx="11091672" cy="64109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9808" y="5360035"/>
            <a:ext cx="10689336" cy="64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에러가 나면  런타임 → 모두 실행.  셀을 위에서부터 다시 돌리면 대부분 해결된다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Matplotlib·Seaborn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차트를 '메시지 차트'로 — 꾸미기 다섯 가지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270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⑥ 데이터 시각화 마무리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11120"/>
            <a:ext cx="5463540" cy="1765935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11120"/>
            <a:ext cx="82296" cy="176593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281228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 — 기본 설정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3300603"/>
            <a:ext cx="501548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76772" y="2611120"/>
            <a:ext cx="5463540" cy="1765935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6772" y="2611120"/>
            <a:ext cx="82296" cy="176593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3660" y="281228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 — 메시지 중심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6423660" y="3264027"/>
            <a:ext cx="50154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 건수 1위는 지갑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423660" y="3812667"/>
            <a:ext cx="501548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4541647"/>
            <a:ext cx="1911096" cy="10668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541647"/>
            <a:ext cx="1911096" cy="993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" y="4687951"/>
            <a:ext cx="1456639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= 결론 문장</a:t>
            </a:r>
            <a:endParaRPr lang="en-US" sz="2300" dirty="0"/>
          </a:p>
        </p:txBody>
      </p:sp>
      <p:sp>
        <p:nvSpPr>
          <p:cNvPr id="22" name="Shape 20"/>
          <p:cNvSpPr/>
          <p:nvPr/>
        </p:nvSpPr>
        <p:spPr>
          <a:xfrm>
            <a:off x="2843784" y="4541647"/>
            <a:ext cx="1911096" cy="10668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43784" y="4541647"/>
            <a:ext cx="1911096" cy="993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90088" y="4687951"/>
            <a:ext cx="1456639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강조색 1개 + 회색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5138928" y="4541647"/>
            <a:ext cx="1911096" cy="10668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38928" y="4541647"/>
            <a:ext cx="1911096" cy="993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85232" y="4687951"/>
            <a:ext cx="1456639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눈금선·범례 정리</a:t>
            </a:r>
            <a:endParaRPr lang="en-US" sz="2300" dirty="0"/>
          </a:p>
        </p:txBody>
      </p:sp>
      <p:sp>
        <p:nvSpPr>
          <p:cNvPr id="28" name="Shape 26"/>
          <p:cNvSpPr/>
          <p:nvPr/>
        </p:nvSpPr>
        <p:spPr>
          <a:xfrm>
            <a:off x="7434072" y="4541647"/>
            <a:ext cx="1911096" cy="10668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34072" y="4541647"/>
            <a:ext cx="1911096" cy="993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0376" y="4687951"/>
            <a:ext cx="1456639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값을 직접 표기</a:t>
            </a:r>
            <a:endParaRPr lang="en-US" sz="2300" dirty="0"/>
          </a:p>
        </p:txBody>
      </p:sp>
      <p:sp>
        <p:nvSpPr>
          <p:cNvPr id="31" name="Shape 29"/>
          <p:cNvSpPr/>
          <p:nvPr/>
        </p:nvSpPr>
        <p:spPr>
          <a:xfrm>
            <a:off x="9729216" y="4541647"/>
            <a:ext cx="1911096" cy="10668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29216" y="4541647"/>
            <a:ext cx="1911096" cy="993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75520" y="4687951"/>
            <a:ext cx="1456639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출처·기준 자막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Matplotlib·Seaborn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방송용으로 저장한다 — 16:9, 1920×1080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6761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⑥ 데이터 시각화 마무리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51660"/>
            <a:ext cx="11091672" cy="22654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51660"/>
            <a:ext cx="82296" cy="226542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2052828"/>
            <a:ext cx="106436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노트북에 들어 있는 저장 코드 (참고용)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430018"/>
            <a:ext cx="10643616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fig, ax = plt.subplots(figsize=(16, 9))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... 차트 그리기 ...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fig.savefig("chart_01.png", dpi=120)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영상 위에 얹을 때만 투명 배경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fig.savefig("chart_01_alpha.png",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dpi=120, transparent=True)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281678"/>
            <a:ext cx="3587496" cy="12748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281678"/>
            <a:ext cx="82296" cy="127482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" y="4482846"/>
            <a:ext cx="31394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4860036"/>
            <a:ext cx="31394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× 120 = 1920, 9 × 120 = 1080 → 1920×1080 PNG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00728" y="4281678"/>
            <a:ext cx="3587496" cy="12748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00728" y="4281678"/>
            <a:ext cx="82296" cy="127482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47616" y="4482846"/>
            <a:ext cx="31394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47616" y="4860036"/>
            <a:ext cx="31394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주차_주제_번호_버전 (예: 14_유실물_01_v1.png)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52816" y="4281678"/>
            <a:ext cx="3587496" cy="12748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52816" y="4281678"/>
            <a:ext cx="82296" cy="127482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9704" y="4482846"/>
            <a:ext cx="31394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4860036"/>
            <a:ext cx="31394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 후 Premiere 시퀀스에 올려 글자 크기·여백을 눈으로 확인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5721096"/>
            <a:ext cx="11091672" cy="55854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" y="5721096"/>
            <a:ext cx="10689336" cy="558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화면에서 안 읽히면 코드를 손보지 말고 노트북의 글자 크기 값 하나를 키운다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Flourish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Flourish — 표를 붙이면 움직이는 차트가 된다 (무료 플랜의 현실)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270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⑥ 데이터 시각화 마무리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11120"/>
            <a:ext cx="5463540" cy="211620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11120"/>
            <a:ext cx="82296" cy="21162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2812288"/>
            <a:ext cx="501548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 수 있는 것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3205353"/>
            <a:ext cx="5015484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50종 이상의 템플릿 (선·막대·지도·Sankey 등)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시간에 따라 순위가 바뀌는 막대 레이스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구글시트·CSV의 표를 붙여넣어 바로 시각화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코딩 없이 여러 안을 빠르게 비교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웹으로 공유하고 미리보기 재생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6772" y="2611120"/>
            <a:ext cx="5463540" cy="211620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6772" y="2611120"/>
            <a:ext cx="82296" cy="21162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3660" y="2812288"/>
            <a:ext cx="501548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플랜의 제약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423660" y="3205353"/>
            <a:ext cx="5015484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발행한 프로젝트는 공개 + 출처(Flourish) 표기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발행 전 작업물은 비공개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PNG·SVG 등 이미지 다운로드는 유료 플랜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영상(비디오) 내보내기는 Enterprise 플랜에서만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일부 WebGL 템플릿은 이미지 내보내기 불가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891913"/>
            <a:ext cx="11091672" cy="8392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891913"/>
            <a:ext cx="10689336" cy="839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우리의 방식: Flourish에서 움직임을 만들고 → 화면녹화로 영상 소스를 확보한다. 정지 이미지는 코랩(Matplotlib)이 담당한다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Flourish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템플릿은 '움직임이 의미 있을 때' 고른다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260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⑥ 데이터 시각화 마무리 · MBC 미디어캠퍼스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0080"/>
          <a:ext cx="11091672" cy="914400"/>
        </p:xfrm>
        <a:graphic>
          <a:graphicData uri="http://schemas.openxmlformats.org/drawingml/2006/table">
            <a:tbl>
              <a:tblPr/>
              <a:tblGrid>
                <a:gridCol w="3110093"/>
                <a:gridCol w="4208118"/>
                <a:gridCol w="3773461"/>
              </a:tblGrid>
              <a:tr h="5549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템플릿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이럴 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프로젝트에서의 예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835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막대 레이스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(Bar chart race)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시간이 흐르며 순위가 바뀌는 것 자체가 이야기일 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연도별 품목·업종·지역 순위 변화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9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선·막대 (기본형)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비교와 추이를 가장 깔끔하게 보여줄 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월별 변화, 항목 간 격차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835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지도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지역마다 차이가 나는 것이 핵심일 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시도별 수치 비교 (한국 지도 지원은 사전 시험)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5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흐름도 (Sankey)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돈·사람·물건이 어디서 어디로 갔는지 보여줄 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예산 구성, 이동·전환 경로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691632"/>
            <a:ext cx="11091672" cy="60807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5691632"/>
            <a:ext cx="1068933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움직임은 양념이다 — 움직여서 이해가 빨라질 때만 쓴다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Flourish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움직이는 그래프를 영상 소스로 만드는 법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260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⑥ 데이터 시각화 마무리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10080"/>
            <a:ext cx="2484882" cy="11315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10080"/>
            <a:ext cx="2484882" cy="81076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" y="2056384"/>
            <a:ext cx="1973047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Flourish 미리보기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" y="2794000"/>
            <a:ext cx="19730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재생 확인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17570" y="1910080"/>
            <a:ext cx="2484882" cy="11315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7570" y="1910080"/>
            <a:ext cx="2484882" cy="5516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3874" y="2056384"/>
            <a:ext cx="1973047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화면녹화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563874" y="2534920"/>
            <a:ext cx="19730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(OBS 등)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86500" y="1910080"/>
            <a:ext cx="2484882" cy="11315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6500" y="1910080"/>
            <a:ext cx="2484882" cy="5516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32804" y="2056384"/>
            <a:ext cx="1973047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Premiere에서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32804" y="2534920"/>
            <a:ext cx="19730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컷·속도 정리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55430" y="1910080"/>
            <a:ext cx="2484882" cy="11315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55430" y="1910080"/>
            <a:ext cx="2484882" cy="5516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01734" y="2056384"/>
            <a:ext cx="1973047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CG 클립 완성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301734" y="2534920"/>
            <a:ext cx="19730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(영상 소스)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3206242"/>
            <a:ext cx="11091672" cy="7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206242"/>
            <a:ext cx="868680" cy="721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206242"/>
            <a:ext cx="868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1600200" y="3279394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녹화 전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600200" y="3590290"/>
            <a:ext cx="983894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창 크기를 16:9에 맞추고, 화면 배율을 고정한다. 메뉴·알림이 찍히지 않게 정리한다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4000754"/>
            <a:ext cx="11091672" cy="7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000754"/>
            <a:ext cx="868680" cy="721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4000754"/>
            <a:ext cx="868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34" name="Text 32"/>
          <p:cNvSpPr txBox="1"/>
          <p:nvPr/>
        </p:nvSpPr>
        <p:spPr>
          <a:xfrm>
            <a:off x="1600200" y="4073906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녹화 중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1600200" y="4384802"/>
            <a:ext cx="983894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애니메이션은 처음부터 끝까지 한 번에. Flourish 출처 표기는 화면에서 가리지 않는다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8640" y="4795266"/>
            <a:ext cx="11091672" cy="7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795266"/>
            <a:ext cx="868680" cy="721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4795266"/>
            <a:ext cx="868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39" name="Text 37"/>
          <p:cNvSpPr txBox="1"/>
          <p:nvPr/>
        </p:nvSpPr>
        <p:spPr>
          <a:xfrm>
            <a:off x="1600200" y="4868418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녹화 후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1600200" y="5179314"/>
            <a:ext cx="983894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빠르면 Premiere에서 속도·길이를 조정하고, 읽는 시간만큼 마지막 화면을 붙잡아 둔다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8640" y="5662930"/>
            <a:ext cx="11091672" cy="57505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49808" y="5662930"/>
            <a:ext cx="10689336" cy="57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저작권·출처: 공개 발행된 프로젝트에는 데이터 출처도 화면 자막으로 함께 남긴다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CG 마감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 한 메시지 CG의 구조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3050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⑥ 데이터 시각화 마무리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14550"/>
            <a:ext cx="5463540" cy="109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14550"/>
            <a:ext cx="82296" cy="109194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2315718"/>
            <a:ext cx="501548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= 결론 문장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724658"/>
            <a:ext cx="5015484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76772" y="2114550"/>
            <a:ext cx="5463540" cy="109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6772" y="2114550"/>
            <a:ext cx="82296" cy="109194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3660" y="2315718"/>
            <a:ext cx="501548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기준 시점 · 단위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23660" y="2724658"/>
            <a:ext cx="5015484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3371088"/>
            <a:ext cx="5463540" cy="10337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371088"/>
            <a:ext cx="868680" cy="103378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371088"/>
            <a:ext cx="868680" cy="103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3444240"/>
            <a:ext cx="421081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헤드라인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770376"/>
            <a:ext cx="4210812" cy="561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결론을 한 문장으로. 차트 이름이 아니라 메시지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48640" y="4478020"/>
            <a:ext cx="5463540" cy="10337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478020"/>
            <a:ext cx="868680" cy="103378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478020"/>
            <a:ext cx="868680" cy="103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4551172"/>
            <a:ext cx="421081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 영역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877308"/>
            <a:ext cx="4210812" cy="561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강조 하나(amber), 나머지는 회색. 값은 직접 표기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176772" y="3371088"/>
            <a:ext cx="5463540" cy="10337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6772" y="3371088"/>
            <a:ext cx="868680" cy="103378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6772" y="3371088"/>
            <a:ext cx="868680" cy="103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7228332" y="3444240"/>
            <a:ext cx="421081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자막바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7228332" y="3770376"/>
            <a:ext cx="4210812" cy="561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셌는지·기준 시점·출처. 13주차 숫자 점검표 그대로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176772" y="4478020"/>
            <a:ext cx="5463540" cy="7531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6772" y="4478020"/>
            <a:ext cx="868680" cy="7531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76772" y="4478020"/>
            <a:ext cx="868680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36" name="Text 34"/>
          <p:cNvSpPr txBox="1"/>
          <p:nvPr/>
        </p:nvSpPr>
        <p:spPr>
          <a:xfrm>
            <a:off x="7228332" y="4551172"/>
            <a:ext cx="421081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점선 = 안전영역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7228332" y="4877308"/>
            <a:ext cx="4210812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글자·차트는 점선 안쪽에 배치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548640" y="5658104"/>
            <a:ext cx="11091672" cy="59156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9808" y="5658104"/>
            <a:ext cx="10689336" cy="59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구조가 코랩 노트북(자막 위치)·Photoshop 템플릿·AE 프리셋에 공통으로 들어간다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CG 마감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프로그램의 역할 — 정확성은 코랩이, 연출은 여기서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270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⑥ 데이터 시각화 마무리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11120"/>
            <a:ext cx="3587496" cy="2423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11120"/>
            <a:ext cx="82296" cy="242316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2812288"/>
            <a:ext cx="31394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Photoshop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3152902"/>
            <a:ext cx="31394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정지 CG 마감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3594862"/>
            <a:ext cx="313944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캔버스 1920×1080 + 안전영역 가이드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출처 자막바 템플릿 (강사 제공)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강조 하이라이트·주석 화살표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PNG로 저장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00728" y="2611120"/>
            <a:ext cx="3587496" cy="2423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0728" y="2611120"/>
            <a:ext cx="82296" cy="242316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47616" y="2812288"/>
            <a:ext cx="31394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 Effects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47616" y="3152902"/>
            <a:ext cx="31394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움직이는 CG</a:t>
            </a:r>
            <a:endParaRPr lang="en-US" sz="2300" dirty="0"/>
          </a:p>
        </p:txBody>
      </p:sp>
      <p:sp>
        <p:nvSpPr>
          <p:cNvPr id="19" name="Text 17"/>
          <p:cNvSpPr txBox="1"/>
          <p:nvPr/>
        </p:nvSpPr>
        <p:spPr>
          <a:xfrm>
            <a:off x="4547616" y="3594862"/>
            <a:ext cx="313944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차트 PNG를 불러와 배치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마스크로 왼쪽에서 오른쪽 등장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숫자 카운트업 (강사 제공 프리셋)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강조 부분으로 확대(줌) → 렌더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52816" y="2611120"/>
            <a:ext cx="3587496" cy="2423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52816" y="2611120"/>
            <a:ext cx="82296" cy="242316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99704" y="2812288"/>
            <a:ext cx="31394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Premiere Pro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299704" y="3152902"/>
            <a:ext cx="31394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편집에 얹기</a:t>
            </a:r>
            <a:endParaRPr lang="en-US" sz="2300" dirty="0"/>
          </a:p>
        </p:txBody>
      </p:sp>
      <p:sp>
        <p:nvSpPr>
          <p:cNvPr id="24" name="Text 22"/>
          <p:cNvSpPr txBox="1"/>
          <p:nvPr/>
        </p:nvSpPr>
        <p:spPr>
          <a:xfrm>
            <a:off x="8299704" y="3594862"/>
            <a:ext cx="313944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시퀀스 1920×1080 · 컷 길이 점검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화면 시간 = 읽는 시간 + 여유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내레이션·음악 타이밍과 맞추기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자막과 겹치지 않는지 확인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5198872"/>
            <a:ext cx="11091672" cy="55854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5198872"/>
            <a:ext cx="10689336" cy="558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  수치는 코랩·Flourish에서 확정한다. 마감 단계(PS·AE·Premiere)에서는 숫자를 고치지 않는다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· 운영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40시간 운영 일정 (권장안)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3050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⑥ 데이터 시각화 마무리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14550"/>
            <a:ext cx="1911096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14550"/>
            <a:ext cx="1911096" cy="111556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" y="2260854"/>
            <a:ext cx="14566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1일차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원칙·차트 선택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" y="3303270"/>
            <a:ext cx="1456639" cy="211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시각화 원칙·차트 고르기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잘못된 차트 5장 고치기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차트 리뷰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 메시지 문장 쓰기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843784" y="2114550"/>
            <a:ext cx="1911096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43784" y="2114550"/>
            <a:ext cx="1911096" cy="111556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90088" y="2260854"/>
            <a:ext cx="14566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2일차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Matplotlib 심화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2990088" y="3303270"/>
            <a:ext cx="1456639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꾸미기 다섯 가지 적용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방송용 저장(16:9)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 3종 완성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 확인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38928" y="2114550"/>
            <a:ext cx="1911096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2114550"/>
            <a:ext cx="1911096" cy="8412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85232" y="2260854"/>
            <a:ext cx="1456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3일차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Flourish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285232" y="3028950"/>
            <a:ext cx="1456639" cy="184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 고르기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움직이는 차트 1개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화면녹화로 소스 확보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플랜 제약 점검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34072" y="2114550"/>
            <a:ext cx="1911096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34072" y="2114550"/>
            <a:ext cx="1911096" cy="8412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0376" y="2260854"/>
            <a:ext cx="1456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4일차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CG 마감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580376" y="3028950"/>
            <a:ext cx="1456639" cy="211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PS 자막바·정지 CG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AE 모션(등장·카운트업)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Premiere에 얹기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CG 시퀀스 30~40초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729216" y="2114550"/>
            <a:ext cx="1911096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29216" y="2114550"/>
            <a:ext cx="1911096" cy="111556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875520" y="2260854"/>
            <a:ext cx="14566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5일차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종합·프로젝트3 예고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0" y="3303270"/>
            <a:ext cx="1456639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산출물 제출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상호 리뷰·피드백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반영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프로젝트3 예고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5581142"/>
            <a:ext cx="11091672" cy="59156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5581142"/>
            <a:ext cx="10689336" cy="59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8h × 5일 = 40h   /   ⑥ 전체 = 13주차 8h + 14주차 40h = 48h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· 운영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103327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산출물과 제출 전 다섯 가지 점검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7998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⑥ 데이터 시각화 마무리 · MBC 미디어캠퍼스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64030"/>
          <a:ext cx="11091672" cy="914400"/>
        </p:xfrm>
        <a:graphic>
          <a:graphicData uri="http://schemas.openxmlformats.org/drawingml/2006/table">
            <a:tbl>
              <a:tblPr/>
              <a:tblGrid>
                <a:gridCol w="3530760"/>
                <a:gridCol w="2922916"/>
                <a:gridCol w="4637996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산출물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수량 (권장)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Matplotlib·Seaborn 차트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PNG 3개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1920×1080, 나눔고딕, 제목=결론 문장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Flourish 차트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1개 + 녹화 클립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 표기 유지, 움직임에 이유가 있을 것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CG 시퀀스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30~40초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Premiere에 얹은 최종 렌더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 이유 메모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차트별 한 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왜 이 차트인지, 어떤 함정을 피했는지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4694682"/>
            <a:ext cx="11091672" cy="49250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4694682"/>
            <a:ext cx="10908792" cy="492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전 다섯 가지 점검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5260340"/>
            <a:ext cx="36484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5260340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52603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1600200" y="5435600"/>
            <a:ext cx="2505456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제목이 결론 문장인가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5882132"/>
            <a:ext cx="36484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5882132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58821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1600200" y="6057392"/>
            <a:ext cx="2505456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단위·기준 시점·출처가 있는가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270248" y="5260340"/>
            <a:ext cx="36484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70248" y="5260340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270248" y="52603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4" name="Text 21"/>
          <p:cNvSpPr txBox="1"/>
          <p:nvPr/>
        </p:nvSpPr>
        <p:spPr>
          <a:xfrm>
            <a:off x="5321808" y="5435600"/>
            <a:ext cx="2505456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막대 차트 축이 0에서 시작하는가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270248" y="5882132"/>
            <a:ext cx="36484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270248" y="5882132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270248" y="58821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8" name="Text 25"/>
          <p:cNvSpPr txBox="1"/>
          <p:nvPr/>
        </p:nvSpPr>
        <p:spPr>
          <a:xfrm>
            <a:off x="5321808" y="6057392"/>
            <a:ext cx="2505456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강조색이 하나뿐인가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991856" y="5260340"/>
            <a:ext cx="36484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991856" y="5260340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991856" y="52603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400" dirty="0"/>
          </a:p>
        </p:txBody>
      </p:sp>
      <p:sp>
        <p:nvSpPr>
          <p:cNvPr id="32" name="Text 29"/>
          <p:cNvSpPr txBox="1"/>
          <p:nvPr/>
        </p:nvSpPr>
        <p:spPr>
          <a:xfrm>
            <a:off x="9043416" y="5435600"/>
            <a:ext cx="2505456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화면에서 읽히는가 (글자·시간)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· 다음 주 예고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프로젝트3 예고 — 다큐 속 데이터는 조용하게 쓴다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270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⑥ 데이터 시각화 마무리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11120"/>
            <a:ext cx="5463540" cy="110369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11120"/>
            <a:ext cx="82296" cy="110369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2812288"/>
            <a:ext cx="5015484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정보프로그램의 CG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3133916"/>
            <a:ext cx="5015484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속도감 — 큰 숫자, 효과음, 빠른 컷. 숫자가 궁금증을 만든다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6772" y="2611120"/>
            <a:ext cx="5463540" cy="110369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6772" y="2611120"/>
            <a:ext cx="82296" cy="110369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3660" y="2812288"/>
            <a:ext cx="5015484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다큐멘터리의 CG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423660" y="3133916"/>
            <a:ext cx="5015484" cy="379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절제 — 한 번에 숫자 하나, 내레이션과 인물 이야기 사이에서 '근거'로만 쓴다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879406"/>
            <a:ext cx="11091672" cy="500761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879406"/>
            <a:ext cx="10689336" cy="5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다큐 7시퀀스 중 데이터 CG가 들어가는 세 곳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44759"/>
            <a:ext cx="3587496" cy="110369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544759"/>
            <a:ext cx="82296" cy="110369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4745927"/>
            <a:ext cx="3139440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S#3 도입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5067554"/>
            <a:ext cx="3139440" cy="379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문제의 크기를 숫자 한 장으로 — 인물의 이야기가 왜 중요한지 열어 준다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00728" y="4544759"/>
            <a:ext cx="3587496" cy="110369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00728" y="4544759"/>
            <a:ext cx="82296" cy="110369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47616" y="4745927"/>
            <a:ext cx="3139440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S#5 본문② 전환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4547616" y="5067554"/>
            <a:ext cx="3139440" cy="379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인물의 경험이 한 사람만의 일이 아님을 보여 주는 근거 데이터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52816" y="4544759"/>
            <a:ext cx="3587496" cy="110369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52816" y="4544759"/>
            <a:ext cx="82296" cy="110369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99704" y="4745927"/>
            <a:ext cx="3139440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S#7 에필로그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8299704" y="5067554"/>
            <a:ext cx="3139440" cy="379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변화의 추이 또는 남은 질문을 조용한 한 장으로 남긴다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813044"/>
            <a:ext cx="11091672" cy="50076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9808" y="5813044"/>
            <a:ext cx="10689336" cy="5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프로젝트3: 시사 다큐 10분 이내 · 인터뷰·촬영 영상은 AI로 제작 · 15주차 40h 제작 → 16주차 32h 완성 + 수료식 8h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86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핵심 정리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548640" y="1611630"/>
            <a:ext cx="110916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11630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61163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1718310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시각화는 방송에서 CG다 — 한 장에 한 메시지, 제목이 곧 결론 문장이다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233422"/>
            <a:ext cx="11091672" cy="816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233422"/>
            <a:ext cx="868680" cy="81686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233422"/>
            <a:ext cx="8686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2306574"/>
            <a:ext cx="983894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차트는 하고 싶은 말로 고르고, 축 자르기 같은 왜곡 함정은 발행 전에 스스로 잡는다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123438"/>
            <a:ext cx="11091672" cy="816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123438"/>
            <a:ext cx="868680" cy="81686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123438"/>
            <a:ext cx="8686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196590"/>
            <a:ext cx="983894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코랩은 정확한 정지 차트, Flourish는 움직이는 소스 — 무료 플랜의 제약은 화면녹화로 푼다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4013454"/>
            <a:ext cx="110916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013454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01345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120134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PS·AE·Premiere는 연출을 담당하고, 마감 단계에서 숫자는 고치지 않는다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48640" y="4635246"/>
            <a:ext cx="110916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35246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63524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741926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산출물로 ⑥ 데이터 시각화 뉴스 콘텐츠 제작 48h가 완료된다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8640" y="5330190"/>
            <a:ext cx="11091672" cy="64109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5330190"/>
            <a:ext cx="10689336" cy="64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시간(15주차): ⑨ 프로젝트3 시사 다큐멘터리 제작 착수 [40h]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14주차 강의안</dc:title>
  <dc:subject>PptxGenJS Presentation</dc:subject>
  <dc:creator>PptxGenJS</dc:creator>
  <cp:lastModifiedBy>PptxGenJS</cp:lastModifiedBy>
  <cp:revision>1</cp:revision>
  <dcterms:created xsi:type="dcterms:W3CDTF">2026-10-16T01:46:53Z</dcterms:created>
  <dcterms:modified xsi:type="dcterms:W3CDTF">2026-10-16T01:46:53Z</dcterms:modified>
</cp:coreProperties>
</file>