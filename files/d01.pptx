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84048"/>
            <a:ext cx="109728" cy="1097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384048"/>
            <a:ext cx="109728" cy="1097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0" y="274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46720" y="2743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1주차 실습 참고자료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 flipH="1">
            <a:off x="11457432" y="6400800"/>
            <a:ext cx="731520" cy="457200"/>
          </a:xfrm>
          <a:prstGeom prst="rtTriangle">
            <a:avLst/>
          </a:prstGeom>
          <a:solidFill>
            <a:srgbClr val="D9D9D6"/>
          </a:solidFill>
          <a:ln w="12700">
            <a:solidFill>
              <a:srgbClr val="D9D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332720" y="9144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20" b="1" dirty="0">
                <a:solidFill>
                  <a:srgbClr val="2B3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✱</a:t>
            </a:r>
            <a:endParaRPr lang="en-US" sz="5720" dirty="0"/>
          </a:p>
        </p:txBody>
      </p:sp>
      <p:sp>
        <p:nvSpPr>
          <p:cNvPr id="10" name="Text 8"/>
          <p:cNvSpPr/>
          <p:nvPr/>
        </p:nvSpPr>
        <p:spPr>
          <a:xfrm>
            <a:off x="548640" y="1371600"/>
            <a:ext cx="10058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85000"/>
              </a:lnSpc>
              <a:buNone/>
            </a:pPr>
            <a:r>
              <a:rPr lang="en-US" sz="13000" b="1" spc="-400" kern="0" dirty="0">
                <a:solidFill>
                  <a:srgbClr val="2B3F94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가짜뉴스</a:t>
            </a:r>
            <a:endParaRPr lang="en-US" sz="1300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13000" b="1" spc="-400" kern="0" dirty="0">
                <a:solidFill>
                  <a:srgbClr val="2B3F94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구별툴</a:t>
            </a:r>
            <a:endParaRPr lang="en-US" sz="130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[MBC 미디어캠퍼스] AI 기반 데이터 저널리스트 양성 과정 · 1주차 실습 참고자료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5349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강의안 도구 외에 더 써볼 수 있는 무료 검증·법적 확인 도구 8종 — 정보검증 5단계에 맞춰 활용합니다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8404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38404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0" y="274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46720" y="2743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1주차 실습 참고자료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 flipH="1">
            <a:off x="11457432" y="6400800"/>
            <a:ext cx="731520" cy="457200"/>
          </a:xfrm>
          <a:prstGeom prst="rtTriangle">
            <a:avLst/>
          </a:prstGeom>
          <a:solidFill>
            <a:srgbClr val="1B2F8A"/>
          </a:solidFill>
          <a:ln w="12700">
            <a:solidFill>
              <a:srgbClr val="1B2F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515600" y="914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✱</a:t>
            </a:r>
            <a:endParaRPr lang="en-US" sz="4680" dirty="0"/>
          </a:p>
        </p:txBody>
      </p:sp>
      <p:sp>
        <p:nvSpPr>
          <p:cNvPr id="10" name="Text 8"/>
          <p:cNvSpPr/>
          <p:nvPr/>
        </p:nvSpPr>
        <p:spPr>
          <a:xfrm>
            <a:off x="822960" y="146304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무료로 쓸 수 있는 도구만 골랐습니다. 가입이 필요한 기능은 해당 슬라이드에 표시했습니다.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822960" y="3383280"/>
            <a:ext cx="109728" cy="2286000"/>
          </a:xfrm>
          <a:prstGeom prst="rect">
            <a:avLst/>
          </a:prstGeom>
          <a:solidFill>
            <a:srgbClr val="2B3F94"/>
          </a:solidFill>
          <a:ln w="12700">
            <a:solidFill>
              <a:srgbClr val="2B3F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33756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구글 이미지·TinEye 같은 역검색 도구와 Hive Moderation 같은 AI 판별 도구는 1주차 강의안 22·23장에서 다룹니다. 이 자료는 그 외에 정보검증 5단계에서 더 써볼 수 있는 도구를 모았습니다.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84048"/>
            <a:ext cx="109728" cy="1097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384048"/>
            <a:ext cx="109728" cy="1097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0" y="274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46720" y="2743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1주차 실습 참고자료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 flipH="1">
            <a:off x="11457432" y="6400800"/>
            <a:ext cx="731520" cy="457200"/>
          </a:xfrm>
          <a:prstGeom prst="rtTriangle">
            <a:avLst/>
          </a:prstGeom>
          <a:solidFill>
            <a:srgbClr val="D9D9D6"/>
          </a:solidFill>
          <a:ln w="12700">
            <a:solidFill>
              <a:srgbClr val="D9D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B3F9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정보검증 5단계별 도구 한눈에 보기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698480" y="822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60" b="1" dirty="0">
                <a:solidFill>
                  <a:srgbClr val="2B3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✱</a:t>
            </a:r>
            <a:endParaRPr lang="en-US" sz="416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955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정보검증 5단계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F9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 자료의 도구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F9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① 출처 확인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① Google Fact Check Explorer · ⑤ 국가통계포털·공공데이터포털 · ⑥ 대법원 종합법률정보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② 교차 검증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① Google Fact Check Explorer · ② 빅카인즈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③ 작성 맥락 확인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② 빅카인즈 · ③ Wayback Machine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④ 이미지·영상 역검색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④ InVID-WeVerify (강의안 22장의 역검색 도구와 함께 사용)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⑤ AI 생성 여부 확인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강의안 23장의 도구를 사용합니다 (이 자료에는 추가 도구가 없습니다)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확장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⑦ 한국저작권위원회 공유마당(저작권) · ⑧ 추천·보증 등에 관한 표시·광고 심사지침(협찬 표기)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84048"/>
            <a:ext cx="109728" cy="1097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384048"/>
            <a:ext cx="109728" cy="1097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0" y="274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46720" y="2743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1주차 실습 참고자료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 flipH="1">
            <a:off x="11457432" y="6400800"/>
            <a:ext cx="731520" cy="457200"/>
          </a:xfrm>
          <a:prstGeom prst="rtTriangle">
            <a:avLst/>
          </a:prstGeom>
          <a:solidFill>
            <a:srgbClr val="D9D9D6"/>
          </a:solidFill>
          <a:ln w="12700">
            <a:solidFill>
              <a:srgbClr val="D9D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B3F9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팩트체크 데이터베이스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698480" y="822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60" b="1" dirty="0">
                <a:solidFill>
                  <a:srgbClr val="2B3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✱</a:t>
            </a:r>
            <a:endParaRPr lang="en-US" sz="4160" dirty="0"/>
          </a:p>
        </p:txBody>
      </p:sp>
      <p:sp>
        <p:nvSpPr>
          <p:cNvPr id="11" name="Text 9"/>
          <p:cNvSpPr/>
          <p:nvPr/>
        </p:nvSpPr>
        <p:spPr>
          <a:xfrm>
            <a:off x="548640" y="128016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-100" kern="0" dirty="0">
                <a:solidFill>
                  <a:srgbClr val="2B3F94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①   Google Fact Check Explorer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5669280" cy="384048"/>
          </a:xfrm>
          <a:prstGeom prst="rect">
            <a:avLst/>
          </a:prstGeom>
          <a:solidFill>
            <a:srgbClr val="2B3F94"/>
          </a:solidFill>
          <a:ln w="12700">
            <a:solidFill>
              <a:srgbClr val="2B3F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0604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체크리스트 ① 출처 확인 · ② 교차 검증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246120"/>
            <a:ext cx="51206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 세계 공인 팩트체크 기관이 이미 검증한 주장을 텍스트 또는 이미지로 검색할 수 있는 구글 공식 도구입니다. 같은 주장이 이미 ‘허위’로 판정된 적 있는지 빠르게 확인할 수 있습니다.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09360" y="3246120"/>
            <a:ext cx="53035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사용법: toolbox.google.com/factcheck/explorer 접속 → 확인하려는 문장이나 키워드 검색, 또는 이미지 탭에서 이미지 업로드 → 관련 팩트체크 기사 목록 확인.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989320" y="3246120"/>
            <a:ext cx="0" cy="2194560"/>
          </a:xfrm>
          <a:prstGeom prst="line">
            <a:avLst/>
          </a:prstGeom>
          <a:noFill/>
          <a:ln w="12700">
            <a:solidFill>
              <a:srgbClr val="D9D9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solidFill>
            <a:srgbClr val="D9D9D6"/>
          </a:solidFill>
          <a:ln w="12700">
            <a:solidFill>
              <a:srgbClr val="D9D9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6692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이번주 실습 연결: 사례1(화재 속보)이 이미 오보로 확인된 사례가 있는지, 사례4(통계 인용)의 원출처 검증 여부 확인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89520" y="56692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B3F9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링크: toolbox.google.com/factcheck/explorer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8404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38404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0" y="274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46720" y="2743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1주차 실습 참고자료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 flipH="1">
            <a:off x="11457432" y="6400800"/>
            <a:ext cx="731520" cy="457200"/>
          </a:xfrm>
          <a:prstGeom prst="rtTriangle">
            <a:avLst/>
          </a:prstGeom>
          <a:solidFill>
            <a:srgbClr val="1B2F8A"/>
          </a:solidFill>
          <a:ln w="12700">
            <a:solidFill>
              <a:srgbClr val="1B2F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뉴스 검색·분석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698480" y="822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✱</a:t>
            </a:r>
            <a:endParaRPr lang="en-US" sz="4160" dirty="0"/>
          </a:p>
        </p:txBody>
      </p:sp>
      <p:sp>
        <p:nvSpPr>
          <p:cNvPr id="11" name="Text 9"/>
          <p:cNvSpPr/>
          <p:nvPr/>
        </p:nvSpPr>
        <p:spPr>
          <a:xfrm>
            <a:off x="548640" y="128016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-100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②   빅카인즈 (BIGKinds)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5669280" cy="384048"/>
          </a:xfrm>
          <a:prstGeom prst="rect">
            <a:avLst/>
          </a:prstGeom>
          <a:solidFill>
            <a:srgbClr val="2B3F94"/>
          </a:solidFill>
          <a:ln w="12700">
            <a:solidFill>
              <a:srgbClr val="2B3F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0604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체크리스트 ② 교차 검증 · ③ 작성 맥락 확인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246120"/>
            <a:ext cx="51206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한국언론진흥재단이 운영하는 뉴스 검색·분석 서비스입니다. 여러 언론사의 기사를 키워드와 기간으로 한꺼번에 찾아, 같은 사실을 다른 매체가 어떻게 보도했는지와 처음 보도된 시점을 확인하는 데 쓸 수 있습니다.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309360" y="3246120"/>
            <a:ext cx="53035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사용법: bigkinds.or.kr 접속 → 뉴스검색·분석에서 키워드와 기간 입력 → 검색 결과에서 보도 날짜와 매체별 표현 비교. 키워드를 넣으면 최대 5년까지 검색됩니다(현재 화면 안내 기준). 키워드 알림 같은 개인 맞춤 기능은 로그인 후 이용합니다.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989320" y="3246120"/>
            <a:ext cx="0" cy="219456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solidFill>
            <a:srgbClr val="1B2F8A"/>
          </a:solidFill>
          <a:ln w="12700">
            <a:solidFill>
              <a:srgbClr val="1B2F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6692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이번주 실습 연결: 사례1(화재 속보)과 같은 내용을 다른 언론사도 보도했는지, 가장 먼저 보도한 곳이 어디인지 확인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89520" y="56692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링크: bigkinds.or.kr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84048"/>
            <a:ext cx="109728" cy="1097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384048"/>
            <a:ext cx="109728" cy="1097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0" y="274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46720" y="2743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1주차 실습 참고자료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 flipH="1">
            <a:off x="11457432" y="6400800"/>
            <a:ext cx="731520" cy="457200"/>
          </a:xfrm>
          <a:prstGeom prst="rtTriangle">
            <a:avLst/>
          </a:prstGeom>
          <a:solidFill>
            <a:srgbClr val="D9D9D6"/>
          </a:solidFill>
          <a:ln w="12700">
            <a:solidFill>
              <a:srgbClr val="D9D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B3F9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웹페이지 과거 기록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698480" y="822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60" b="1" dirty="0">
                <a:solidFill>
                  <a:srgbClr val="2B3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✱</a:t>
            </a:r>
            <a:endParaRPr lang="en-US" sz="4160" dirty="0"/>
          </a:p>
        </p:txBody>
      </p:sp>
      <p:sp>
        <p:nvSpPr>
          <p:cNvPr id="11" name="Text 9"/>
          <p:cNvSpPr/>
          <p:nvPr/>
        </p:nvSpPr>
        <p:spPr>
          <a:xfrm>
            <a:off x="548640" y="128016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-100" kern="0" dirty="0">
                <a:solidFill>
                  <a:srgbClr val="2B3F94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③   Wayback Machine (인터넷 아카이브)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5669280" cy="384048"/>
          </a:xfrm>
          <a:prstGeom prst="rect">
            <a:avLst/>
          </a:prstGeom>
          <a:solidFill>
            <a:srgbClr val="2B3F94"/>
          </a:solidFill>
          <a:ln w="12700">
            <a:solidFill>
              <a:srgbClr val="2B3F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0604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체크리스트 ③ 작성 맥락 확인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246120"/>
            <a:ext cx="51206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웹페이지를 시점별로 저장해 두는 비영리 인터넷 아카이브입니다. 삭제되거나 수정된 게시물·기사·공지의 예전 모습을 확인할 수 있습니다. 가입 없이 사용할 수 있습니다.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09360" y="3246120"/>
            <a:ext cx="53035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사용법: web.archive.org 접속 → 확인할 주소(URL) 입력 → 달력에서 저장된 날짜 선택 → 시점별 화면 비교. 저장된 기록이 없다고 해서 원래 없었다는 뜻은 아닙니다. 보존이 필요하면 ‘Save Page Now’로 지금 화면을 저장해 둘 수 있습니다.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989320" y="3246120"/>
            <a:ext cx="0" cy="2194560"/>
          </a:xfrm>
          <a:prstGeom prst="line">
            <a:avLst/>
          </a:prstGeom>
          <a:noFill/>
          <a:ln w="12700">
            <a:solidFill>
              <a:srgbClr val="D9D9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solidFill>
            <a:srgbClr val="D9D9D6"/>
          </a:solidFill>
          <a:ln w="12700">
            <a:solidFill>
              <a:srgbClr val="D9D9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6692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이번주 실습 연결: 사례1(화재 속보)이 처음 올라온 게시물이 나중에 수정·삭제되었는지 확인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89520" y="56692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B3F9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링크: web.archive.org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8404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38404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0" y="274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46720" y="2743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1주차 실습 참고자료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 flipH="1">
            <a:off x="11457432" y="6400800"/>
            <a:ext cx="731520" cy="457200"/>
          </a:xfrm>
          <a:prstGeom prst="rtTriangle">
            <a:avLst/>
          </a:prstGeom>
          <a:solidFill>
            <a:srgbClr val="1B2F8A"/>
          </a:solidFill>
          <a:ln w="12700">
            <a:solidFill>
              <a:srgbClr val="1B2F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영상·이미지 검증 확장 프로그램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698480" y="822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✱</a:t>
            </a:r>
            <a:endParaRPr lang="en-US" sz="4160" dirty="0"/>
          </a:p>
        </p:txBody>
      </p:sp>
      <p:sp>
        <p:nvSpPr>
          <p:cNvPr id="11" name="Text 9"/>
          <p:cNvSpPr/>
          <p:nvPr/>
        </p:nvSpPr>
        <p:spPr>
          <a:xfrm>
            <a:off x="548640" y="128016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-100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④   InVID-WeVerify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5669280" cy="384048"/>
          </a:xfrm>
          <a:prstGeom prst="rect">
            <a:avLst/>
          </a:prstGeom>
          <a:solidFill>
            <a:srgbClr val="2B3F94"/>
          </a:solidFill>
          <a:ln w="12700">
            <a:solidFill>
              <a:srgbClr val="2B3F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0604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체크리스트 ④ 이미지·영상 역검색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246120"/>
            <a:ext cx="51206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기자·팩트체커를 위한 영상·이미지 검증용 크롬 확장 프로그램입니다. 영상을 키프레임(주요 장면 캡처)으로 나누어 여러 검색 엔진에서 한 번에 역검색하고, 이미지를 확대하거나 메타데이터를 읽는 기능을 제공합니다.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09360" y="3246120"/>
            <a:ext cx="53035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사용법: 크롬 웹스토어에서 ‘InVID WeVerify’ 설치 → 확장 프로그램 실행 → 영상 URL 입력 후 키프레임 추출 → 각 장면을 역검색. AI 이미지 탐지 같은 일부 베타 기능은 가입한 사용자 대상입니다.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989320" y="3246120"/>
            <a:ext cx="0" cy="219456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solidFill>
            <a:srgbClr val="1B2F8A"/>
          </a:solidFill>
          <a:ln w="12700">
            <a:solidFill>
              <a:srgbClr val="1B2F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6692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이번주 실습 연결: 사례3(딥페이크 인터뷰) 영상에서 장면을 추출해 원본 존재 여부 확인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89520" y="56692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링크: 크롬 웹스토어 ‘InVID WeVerify’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84048"/>
            <a:ext cx="109728" cy="1097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384048"/>
            <a:ext cx="109728" cy="1097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0" y="274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46720" y="2743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1주차 실습 참고자료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 flipH="1">
            <a:off x="11457432" y="6400800"/>
            <a:ext cx="731520" cy="457200"/>
          </a:xfrm>
          <a:prstGeom prst="rtTriangle">
            <a:avLst/>
          </a:prstGeom>
          <a:solidFill>
            <a:srgbClr val="D9D9D6"/>
          </a:solidFill>
          <a:ln w="12700">
            <a:solidFill>
              <a:srgbClr val="D9D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B3F9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통계·공공데이터 원출처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698480" y="822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60" b="1" dirty="0">
                <a:solidFill>
                  <a:srgbClr val="2B3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✱</a:t>
            </a:r>
            <a:endParaRPr lang="en-US" sz="4160" dirty="0"/>
          </a:p>
        </p:txBody>
      </p:sp>
      <p:sp>
        <p:nvSpPr>
          <p:cNvPr id="11" name="Text 9"/>
          <p:cNvSpPr/>
          <p:nvPr/>
        </p:nvSpPr>
        <p:spPr>
          <a:xfrm>
            <a:off x="548640" y="128016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-100" kern="0" dirty="0">
                <a:solidFill>
                  <a:srgbClr val="2B3F94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⑤   국가통계포털 · 공공데이터포털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5669280" cy="384048"/>
          </a:xfrm>
          <a:prstGeom prst="rect">
            <a:avLst/>
          </a:prstGeom>
          <a:solidFill>
            <a:srgbClr val="2B3F94"/>
          </a:solidFill>
          <a:ln w="12700">
            <a:solidFill>
              <a:srgbClr val="2B3F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0604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체크리스트 ① 출처 확인 · 숫자 검증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246120"/>
            <a:ext cx="51206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기사나 SNS에 인용된 통계가 실제로 있는지, 원래 수치가 얼마인지 확인하는 공식 사이트입니다. 국가통계포털(KOSIS)은 국가 통계를, 공공데이터포털은 공공기관이 공개한 데이터를 제공합니다.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09360" y="3246120"/>
            <a:ext cx="53035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사용법: kosis.kr에서 통계 키워드 검색 → 통계표의 작성 기관·조사 기준 시점·단위 확인 → 기사 속 수치와 대조. 통계표가 없으면 data.go.kr에서 같은 주제의 공개 데이터를 검색해 제공 기관과 갱신 시점을 확인합니다.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989320" y="3246120"/>
            <a:ext cx="0" cy="2194560"/>
          </a:xfrm>
          <a:prstGeom prst="line">
            <a:avLst/>
          </a:prstGeom>
          <a:noFill/>
          <a:ln w="12700">
            <a:solidFill>
              <a:srgbClr val="D9D9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solidFill>
            <a:srgbClr val="D9D9D6"/>
          </a:solidFill>
          <a:ln w="12700">
            <a:solidFill>
              <a:srgbClr val="D9D9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6692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이번주 실습 연결: 사례4(통계 인용)의 수치가 원자료와 같은지, 기준 시점과 단위가 맞는지 확인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89520" y="56692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B3F9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링크: kosis.kr · data.go.kr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8404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38404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0" y="274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46720" y="2743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1주차 실습 참고자료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 flipH="1">
            <a:off x="11457432" y="6400800"/>
            <a:ext cx="731520" cy="457200"/>
          </a:xfrm>
          <a:prstGeom prst="rtTriangle">
            <a:avLst/>
          </a:prstGeom>
          <a:solidFill>
            <a:srgbClr val="1B2F8A"/>
          </a:solidFill>
          <a:ln w="12700">
            <a:solidFill>
              <a:srgbClr val="1B2F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 판결·판례 원문 확인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698480" y="822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✱</a:t>
            </a:r>
            <a:endParaRPr lang="en-US" sz="4160" dirty="0"/>
          </a:p>
        </p:txBody>
      </p:sp>
      <p:sp>
        <p:nvSpPr>
          <p:cNvPr id="11" name="Text 9"/>
          <p:cNvSpPr/>
          <p:nvPr/>
        </p:nvSpPr>
        <p:spPr>
          <a:xfrm>
            <a:off x="548640" y="128016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-100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⑥   대법원 종합법률정보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5669280" cy="384048"/>
          </a:xfrm>
          <a:prstGeom prst="rect">
            <a:avLst/>
          </a:prstGeom>
          <a:solidFill>
            <a:srgbClr val="2B3F94"/>
          </a:solidFill>
          <a:ln w="12700">
            <a:solidFill>
              <a:srgbClr val="2B3F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0604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체크리스트 ① 출처 확인 · 법적 책임 실무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246120"/>
            <a:ext cx="51206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판결·결정(판례)을 직접 검색해 볼 수 있는 대법원 운영 사이트입니다. 기사나 영상에서 ‘법원이 이렇게 판단했다’고 할 때, 요약만 믿지 않고 판결 원문과 대조하는 데 씁니다.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09360" y="3246120"/>
            <a:ext cx="53035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사용법: glaw.scourt.go.kr 접속 → 사건번호나 키워드로 판례 검색 → 선고일·법원·판시 내용을 확인하고 기사 속 설명과 비교.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989320" y="3246120"/>
            <a:ext cx="0" cy="219456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solidFill>
            <a:srgbClr val="1B2F8A"/>
          </a:solidFill>
          <a:ln w="12700">
            <a:solidFill>
              <a:srgbClr val="1B2F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6692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수업 연결: 1주차 강의안 9~10장 명예훼손 판결 사례 — 판결 내용을 원문으로 대조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89520" y="56692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링크: glaw.scourt.go.kr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84048"/>
            <a:ext cx="109728" cy="1097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384048"/>
            <a:ext cx="109728" cy="1097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0" y="274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46720" y="2743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1주차 실습 참고자료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 flipH="1">
            <a:off x="11457432" y="6400800"/>
            <a:ext cx="731520" cy="457200"/>
          </a:xfrm>
          <a:prstGeom prst="rtTriangle">
            <a:avLst/>
          </a:prstGeom>
          <a:solidFill>
            <a:srgbClr val="D9D9D6"/>
          </a:solidFill>
          <a:ln w="12700">
            <a:solidFill>
              <a:srgbClr val="D9D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B3F9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⑦ 저작권 확인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698480" y="822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60" b="1" dirty="0">
                <a:solidFill>
                  <a:srgbClr val="2B3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✱</a:t>
            </a:r>
            <a:endParaRPr lang="en-US" sz="4160" dirty="0"/>
          </a:p>
        </p:txBody>
      </p:sp>
      <p:sp>
        <p:nvSpPr>
          <p:cNvPr id="11" name="Text 9"/>
          <p:cNvSpPr/>
          <p:nvPr/>
        </p:nvSpPr>
        <p:spPr>
          <a:xfrm>
            <a:off x="548640" y="128016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-100" kern="0" dirty="0">
                <a:solidFill>
                  <a:srgbClr val="2B3F94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⑦   한국저작권위원회 공유마당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5669280" cy="384048"/>
          </a:xfrm>
          <a:prstGeom prst="rect">
            <a:avLst/>
          </a:prstGeom>
          <a:solidFill>
            <a:srgbClr val="2B3F94"/>
          </a:solidFill>
          <a:ln w="12700">
            <a:solidFill>
              <a:srgbClr val="2B3F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0604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체크리스트 확장 · 법적 책임 실무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246120"/>
            <a:ext cx="51206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저작권 걱정 없이 쓸 수 있는 무료 이미지·영상·음원·글꼴을 검색할 수 있는 문화체육관광부·한국저작권위원회 공동 운영 사이트입니다.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09360" y="3246120"/>
            <a:ext cx="53035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사용법: gongu.copyright.or.kr 접속 → 키워드로 자유이용 소재 검색 → 각 자료의 라이선스 조건(CCL 유형: 출처표시·비영리·변경금지 등) 확인 후 조건에 맞게 사용.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989320" y="3246120"/>
            <a:ext cx="0" cy="2194560"/>
          </a:xfrm>
          <a:prstGeom prst="line">
            <a:avLst/>
          </a:prstGeom>
          <a:noFill/>
          <a:ln w="12700">
            <a:solidFill>
              <a:srgbClr val="D9D9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solidFill>
            <a:srgbClr val="D9D9D6"/>
          </a:solidFill>
          <a:ln w="12700">
            <a:solidFill>
              <a:srgbClr val="D9D9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6692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이번주 실습 연결: Part B 사례8(타 방송사 화면 재사용) — 저작권 문제 없는 대체 소재 찾기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89520" y="56692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B3F9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링크: gongu.copyright.or.kr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8404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38404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0" y="274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46720" y="2743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1주차 실습 참고자료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 flipH="1">
            <a:off x="11457432" y="6400800"/>
            <a:ext cx="731520" cy="457200"/>
          </a:xfrm>
          <a:prstGeom prst="rtTriangle">
            <a:avLst/>
          </a:prstGeom>
          <a:solidFill>
            <a:srgbClr val="1B2F8A"/>
          </a:solidFill>
          <a:ln w="12700">
            <a:solidFill>
              <a:srgbClr val="1B2F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⑧ 표시광고 의무 확인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698480" y="822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✱</a:t>
            </a:r>
            <a:endParaRPr lang="en-US" sz="4160" dirty="0"/>
          </a:p>
        </p:txBody>
      </p:sp>
      <p:sp>
        <p:nvSpPr>
          <p:cNvPr id="11" name="Text 9"/>
          <p:cNvSpPr/>
          <p:nvPr/>
        </p:nvSpPr>
        <p:spPr>
          <a:xfrm>
            <a:off x="548640" y="128016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⑧   「추천·보증 등에 관한 표시·광고 심사지침」 (공정거래위원회)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548640" y="2788920"/>
            <a:ext cx="6035040" cy="384048"/>
          </a:xfrm>
          <a:prstGeom prst="rect">
            <a:avLst/>
          </a:prstGeom>
          <a:solidFill>
            <a:srgbClr val="2B3F94"/>
          </a:solidFill>
          <a:ln w="12700">
            <a:solidFill>
              <a:srgbClr val="2B3F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78892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협찬·광고 표기 의무의 공식 법적 기준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3429000"/>
            <a:ext cx="11064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「표시·광고의 공정화에 관한 법률」 제3조 및 같은 법 시행령 제3조에 근거해 공정거래위원회가 제정·운영하는 행정규칙입니다. 2024년 11월 13일 개정, 2024년 12월 1일부터 시행된 최신본이 현재 기준입니다. 이번 개정으로 ①블로그 등 문자 중심 매체는 경제적 이해관계를 게시물 ‘제목 또는 첫 부분’에 표시해야 하고 ②“참고로 이 글은 대가성이 포함될 수도 있음” 같은 조건부·불확정적 표현은 정식 표시로 인정되지 않으며 ③앞으로 대가를 받기로 한(미래·조건부) 경우도 공개 의무가 있다는 점이 명확해졌습니다.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84048"/>
            <a:ext cx="109728" cy="1097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384048"/>
            <a:ext cx="109728" cy="1097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0" y="274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46720" y="2743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1주차 실습 참고자료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 flipH="1">
            <a:off x="11457432" y="6400800"/>
            <a:ext cx="731520" cy="457200"/>
          </a:xfrm>
          <a:prstGeom prst="rtTriangle">
            <a:avLst/>
          </a:prstGeom>
          <a:solidFill>
            <a:srgbClr val="D9D9D6"/>
          </a:solidFill>
          <a:ln w="12700">
            <a:solidFill>
              <a:srgbClr val="D9D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B3F9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⑧ 표시광고 의무 확인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463040"/>
            <a:ext cx="11064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사용법: ① 국가법령정보센터(law.go.kr)에서 ‘추천·보증 등에 관한 표시·광고 심사지침’ 검색 → 심사지침 원문(행정규칙) 확인. ② 공정거래위원회(ftc.go.kr)에서 배포한 ‘경제적 이해관계 표시 안내서’(사진 예시·자주 묻는 질문 포함)를 함께 참고하면 실무 적용이 쉽습니다.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611880"/>
            <a:ext cx="11064240" cy="960120"/>
          </a:xfrm>
          <a:prstGeom prst="rect">
            <a:avLst/>
          </a:prstGeom>
          <a:solidFill>
            <a:srgbClr val="2B3F94"/>
          </a:solidFill>
          <a:ln w="12700">
            <a:solidFill>
              <a:srgbClr val="2B3F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61188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이번주 실습 연결: Part B 사례7(협찬 미표기) — 올바른 표기 위치·표현 방식 판단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" y="4846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F9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링크: 국가법령정보센터 원문 보기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F9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안내서 다운로드: 공정거래위원회 ‘경제적 이해관계 표시 안내서’ 개정본 배포 게시물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8404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38404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0" y="274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46720" y="2743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1주차 실습 참고자료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 flipH="1">
            <a:off x="11457432" y="6400800"/>
            <a:ext cx="731520" cy="457200"/>
          </a:xfrm>
          <a:prstGeom prst="rtTriangle">
            <a:avLst/>
          </a:prstGeom>
          <a:solidFill>
            <a:srgbClr val="1B2F8A"/>
          </a:solidFill>
          <a:ln w="12700">
            <a:solidFill>
              <a:srgbClr val="1B2F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515600" y="822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✱</a:t>
            </a:r>
            <a:endParaRPr lang="en-US" sz="4680" dirty="0"/>
          </a:p>
        </p:txBody>
      </p:sp>
      <p:sp>
        <p:nvSpPr>
          <p:cNvPr id="10" name="Text 8"/>
          <p:cNvSpPr/>
          <p:nvPr/>
        </p:nvSpPr>
        <p:spPr>
          <a:xfrm>
            <a:off x="548640" y="914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-200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사용상 유의사항</a:t>
            </a:r>
            <a:endParaRPr lang="en-US" sz="6400" dirty="0"/>
          </a:p>
        </p:txBody>
      </p:sp>
      <p:sp>
        <p:nvSpPr>
          <p:cNvPr id="11" name="Shape 9"/>
          <p:cNvSpPr/>
          <p:nvPr/>
        </p:nvSpPr>
        <p:spPr>
          <a:xfrm>
            <a:off x="548640" y="2423160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28600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아카이브나 뉴스 검색에 결과가 없다고 해서 ‘원래 없었다’는 뜻은 아닙니다 — 저장되지 않았거나 검색 범위 밖일 수 있습니다.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56616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통계는 숫자만 맞춰 보지 말고 기준 시점·단위·조사 대상까지 함께 확인하세요.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48640" y="4983480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84632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SNU팩트체크(서울대 언론정보연구소)는 국내 최초 팩트체크 플랫폼이었으나 현재 서비스가 무기한 휴지 상태이므로 이번 목록에서 제외했습니다.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2026-10-16T02:46:53Z</dcterms:created>
  <dcterms:modified xsi:type="dcterms:W3CDTF">2026-10-16T02:46:53Z</dcterms:modified>
</cp:coreProperties>
</file>