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640080"/>
            <a:ext cx="5852160" cy="58521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82880"/>
            <a:ext cx="6766560" cy="67665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097280"/>
            <a:ext cx="457200" cy="32004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0" y="3108960"/>
            <a:ext cx="548640" cy="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309360" y="4846320"/>
            <a:ext cx="457200" cy="274320"/>
          </a:xfrm>
          <a:prstGeom prst="line">
            <a:avLst/>
          </a:prstGeom>
          <a:noFill/>
          <a:ln w="50800">
            <a:solidFill>
              <a:srgbClr val="1421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AI 기반 데이터 저널리스트 양성 과정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868680"/>
            <a:ext cx="6949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0" b="1" spc="-8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1주차</a:t>
            </a:r>
            <a:endParaRPr lang="en-US" sz="16800" dirty="0"/>
          </a:p>
        </p:txBody>
      </p:sp>
      <p:sp>
        <p:nvSpPr>
          <p:cNvPr id="10" name="Shape 8"/>
          <p:cNvSpPr/>
          <p:nvPr/>
        </p:nvSpPr>
        <p:spPr>
          <a:xfrm rot="-360000">
            <a:off x="5943600" y="2743200"/>
            <a:ext cx="5760720" cy="179070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360000">
            <a:off x="6126480" y="2743200"/>
            <a:ext cx="539496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오리엔테이션 · 콘텐츠 윤리와 법적 책임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가짜뉴스 대응전략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89120"/>
            <a:ext cx="49377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 검증된 사실을 담은 영상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577840"/>
            <a:ext cx="11091672" cy="512445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5577840"/>
            <a:ext cx="10698480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 OT  2h    ⑭  저널리즘 윤리와 법적 책임  14h    ⑪  AI 시대 가짜뉴스 대응전략  24h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ORIENTATION · 2H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금주의 학습 목표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42630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37510"/>
            <a:ext cx="318516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과정 정체성 이해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425190"/>
            <a:ext cx="318516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“빠르게 만드는 영상”이 아닌 “데이터로 검증된 사실을 담은 영상” 파이프라인을 이해한다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42630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1896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4501896" y="2937510"/>
            <a:ext cx="3185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제작자의 법적 책임 인식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01896" y="3821430"/>
            <a:ext cx="318516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명예훼손·저작권·초상권·표시광고 의무 등 콘텐츠 제작자가 반드시 지켜야 할 법적 기준을 안다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426304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53984" y="1885950"/>
            <a:ext cx="3185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-3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19" name="Text 17"/>
          <p:cNvSpPr txBox="1"/>
          <p:nvPr/>
        </p:nvSpPr>
        <p:spPr>
          <a:xfrm>
            <a:off x="8253984" y="2937510"/>
            <a:ext cx="31851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허위정보 대응력 확보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253984" y="3821430"/>
            <a:ext cx="3185160" cy="145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만든 가짜뉴스·허위정보를 구별하고, 출처와 원문을 대조해 검증하는 전략을 익힌다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COURSE IDENTITY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빠르게 만드는 영상이 아니라,</a:t>
            </a:r>
            <a:endParaRPr lang="en-US" sz="4400" dirty="0"/>
          </a:p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 검증된 사실을 담은 영상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11091672" cy="8392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36800"/>
            <a:ext cx="10689336" cy="839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파이프라인 전체를 AI와 함께 직접 실행해 봅니다. 코드도 AI와 함께 작성·실행하며 원리를 익히고, “어떤 도구를 언제 쓸지” 판단하는 능력을 기릅니다.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40608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40608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3486912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기획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" y="3965448"/>
            <a:ext cx="197304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양식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AI챗봇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33522" y="3340608"/>
            <a:ext cx="384048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417570" y="3340608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7570" y="3340608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3874" y="3486912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수집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563874" y="3965448"/>
            <a:ext cx="1973047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구글시트 IMPORTXML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파이썬(Colab)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02452" y="3340608"/>
            <a:ext cx="384048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86500" y="3340608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6500" y="3340608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2804" y="3486912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정제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32804" y="3965448"/>
            <a:ext cx="197304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표: 시트 함수·Colab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글: 도메인 챗봇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771382" y="3340608"/>
            <a:ext cx="384048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155430" y="3340608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55430" y="3340608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01734" y="3486912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인사이트 분석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01734" y="3965448"/>
            <a:ext cx="197304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분석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(독립 트랙)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4872990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872990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4944" y="5019294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스크립트화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" y="5497830"/>
            <a:ext cx="197304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AI챗봇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기사·시나리오 초고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033522" y="4872990"/>
            <a:ext cx="384048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3417570" y="4872990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17570" y="4872990"/>
            <a:ext cx="2484882" cy="55168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563874" y="5019294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팩트체크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3563874" y="5497830"/>
            <a:ext cx="197304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코드(Python) 분석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NotebookLM(보조)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902452" y="4872990"/>
            <a:ext cx="384048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6286500" y="4872990"/>
            <a:ext cx="2484882" cy="136779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86500" y="4872990"/>
            <a:ext cx="2484882" cy="551688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32804" y="5019294"/>
            <a:ext cx="1973047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영상화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6432804" y="5497830"/>
            <a:ext cx="1973047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삽화·영상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시각화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Pr·AE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TOOLBOX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7단계에서 쓰는 도구 한눈에 보기</a:t>
            </a:r>
            <a:endParaRPr lang="en-US" sz="4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2600"/>
          <a:ext cx="11091672" cy="914400"/>
        </p:xfrm>
        <a:graphic>
          <a:graphicData uri="http://schemas.openxmlformats.org/drawingml/2006/table">
            <a:tbl>
              <a:tblPr/>
              <a:tblGrid>
                <a:gridCol w="1663537"/>
                <a:gridCol w="3229494"/>
                <a:gridCol w="4082051"/>
                <a:gridCol w="2116590"/>
              </a:tblGrid>
              <a:tr h="327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하는 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 도구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배치 주차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4F"/>
                    </a:solidFill>
                  </a:tcPr>
                </a:tc>
              </a:tr>
              <a:tr h="327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기획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주제·목적·대상 정하고 기획서 작성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기획서 양식 · AI챗봇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 · 8·12·15주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수집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공개 데이터·기사 자동 수집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검색 3종(후보 발굴) · 구글시트 IMPORTXML 템플릿 · 파이썬(Colab) 완성 노트북 · Apps Script 자동수집 · 공공 API(제공)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2~3주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5095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정제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 정리(중복·오류·형식) + 원자료를 글로 다듬기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 정리: 구글시트 함수 · Colab 노트북 / 글 정리: 2주차에 만든 도메인 챗봇 (Gemini Gems · Claude Projects)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3~4주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5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인사이트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분석(집계·비교·추세 확인) → 의미 해석(데이터가 향하는 방향, 소비자의 속마음)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AI챗봇 자연어 분석 질문(ChatGPT·Claude)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 · 12주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327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스크립트화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검증된 데이터로 대본 작성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 AI챗봇 (방송뉴스원고봇·톤앤매너봇) · Gemini Gems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3~4주 · 각 프로젝트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5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⑥ 팩트체크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대본 속 숫자·순위·연도를 정제데이터와 자동 대조(원칙) + 출처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코드(Python/Colab) 분석 · NotebookLM(보조) · Fact Check API · AI검색 교차검증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 · 8주 · 10~11주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</a:tr>
              <a:tr h="6911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⑦ 영상화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생성 + 데이터 시각화 + 편집으로 완성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이미지·영상(Midjourney·Flow·Kling) · 데이터 시각화(Flourish·Matplotlib) · HeyGen·ElevenLabs·Suno · Premiere · After Effects(템플릿) · Photoshop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4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5~9주 · 13~16주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16주 로드맵 한눈에 보기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3587496" cy="11243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1주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66213"/>
            <a:ext cx="31394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OT·윤리·가짜뉴스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00728" y="1840230"/>
            <a:ext cx="3587496" cy="11243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840230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2041398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2-4주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466213"/>
            <a:ext cx="31394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세팅 (120h)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52816" y="1840230"/>
            <a:ext cx="3587496" cy="11243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840230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2041398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5-8주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466213"/>
            <a:ext cx="31394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영상 제작·자동화 (120h)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3129153"/>
            <a:ext cx="3587496" cy="11243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129153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3330321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8-9주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3755136"/>
            <a:ext cx="31394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활용 + 프로젝트1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300728" y="3129153"/>
            <a:ext cx="3587496" cy="11243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00728" y="3129153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47616" y="3330321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10-11주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4547616" y="3755136"/>
            <a:ext cx="31394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팩트체킹 (80h)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052816" y="3129153"/>
            <a:ext cx="3587496" cy="11243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52816" y="3129153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9704" y="3330321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12-13주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8299704" y="3755136"/>
            <a:ext cx="31394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탐사보도 + 프로젝트2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48640" y="4418076"/>
            <a:ext cx="3587496" cy="11243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418076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528" y="4619244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13-14주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" y="5044059"/>
            <a:ext cx="31394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시각화 (48h)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300728" y="4418076"/>
            <a:ext cx="3587496" cy="112433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00728" y="4418076"/>
            <a:ext cx="82296" cy="112433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47616" y="4619244"/>
            <a:ext cx="31394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15-16주</a:t>
            </a:r>
            <a:endParaRPr lang="en-US" sz="2100" dirty="0"/>
          </a:p>
        </p:txBody>
      </p:sp>
      <p:sp>
        <p:nvSpPr>
          <p:cNvPr id="40" name="Text 38"/>
          <p:cNvSpPr txBox="1"/>
          <p:nvPr/>
        </p:nvSpPr>
        <p:spPr>
          <a:xfrm>
            <a:off x="4547616" y="5044059"/>
            <a:ext cx="31394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프로젝트3 + 수료식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48640" y="5706999"/>
            <a:ext cx="11091672" cy="60807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9808" y="5706999"/>
            <a:ext cx="10689336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우리는 여기서 시작합니다 →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5120640" cy="51206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14400"/>
            <a:ext cx="5943600" cy="272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저널리즘 윤리와</a:t>
            </a:r>
            <a:endParaRPr lang="en-US" sz="6500" dirty="0"/>
          </a:p>
          <a:p>
            <a:pPr indent="0" marL="0">
              <a:buNone/>
            </a:pPr>
            <a:r>
              <a:rPr lang="en-US" sz="65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책임</a:t>
            </a:r>
            <a:endParaRPr lang="en-US" sz="6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2143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14시간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6583680" y="1737360"/>
            <a:ext cx="5056632" cy="29260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7373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저널리즘 윤리와 사회적 책임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언론법과 법적 책임 (명예훼손·저작권·초상권)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인플루언서 표시광고법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AI콘텐츠 시대의 미디어 리터러시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윤리적 제작 사례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1-1 · 저널리즘 윤리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저널리즘 윤리와 사회적 책임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5463540" cy="14215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2296" cy="14215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041398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진실 추구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66213"/>
            <a:ext cx="501548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 확인 없는 속보 경쟁은 오보로 이어진다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6772" y="1840230"/>
            <a:ext cx="5463540" cy="14215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840230"/>
            <a:ext cx="82296" cy="14215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2041398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공정성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466213"/>
            <a:ext cx="50154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한쪽 입장만 전달하지 않는다 — 브랜드 콘텐츠도 동일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426333"/>
            <a:ext cx="5463540" cy="2313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26333"/>
            <a:ext cx="82296" cy="231305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627501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책임성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052316"/>
            <a:ext cx="50154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제작자는 자신이 만든 콘텐츠의 파급력을 책임진다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6772" y="3426333"/>
            <a:ext cx="5463540" cy="231305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3426333"/>
            <a:ext cx="82296" cy="231305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3627501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브랜드·유튜브 콘텐츠에도 적용되는가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052316"/>
            <a:ext cx="5015484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과거에는 ‘기자’만 지키면 되는 규범이었지만, 지금은 유튜버·마케터·소상공인도 대중에게 영향을 미치는 콘텐츠 제작자입니다. AI로 제작 속도가 빨라질수록 검증 없는 콘텐츠의 확산 속도와 피해 규모도 함께 커집니다.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1-2 · 언론법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명예훼손 — 사실이어도 책임질 수 있다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35760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3692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 적시 명예훼손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25243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형법 제307조 제1항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사실이라도 공연히 특정인의 사회적 평가를 저하시키면 성립 가능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6772" y="1635760"/>
            <a:ext cx="5463540" cy="19803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635760"/>
            <a:ext cx="82296" cy="19803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836928"/>
            <a:ext cx="5015484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허위사실 적시 명예훼손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325243"/>
            <a:ext cx="5015484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형법 제307조 제2항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허위임을 알면서 유포 시 가중처벌 (5년 이하 징역)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3780663"/>
            <a:ext cx="11091672" cy="103733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780663"/>
            <a:ext cx="10689336" cy="103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포인트: “사실이니까 괜찮다”는 방어 논리가 통하지 않는 경우가 많습니다 — 위법성 조각 요건(공공의 이익·진실성)을 충족해야 면책됩니다.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1-2 · 명예훼손 사례 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 적시 명예훼손 — 주요 사례와 쟁점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5463540" cy="142151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35760"/>
            <a:ext cx="82296" cy="14215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36928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처벌 현실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261743"/>
            <a:ext cx="50154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2014~2023년 형사절차에 간 사건 2,556건, 유죄 비율 79~89%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6772" y="1635760"/>
            <a:ext cx="5463540" cy="142151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1635760"/>
            <a:ext cx="82296" cy="14215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1836928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헌법재판소 2021.2.25. — 합헌 (5:4)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261743"/>
            <a:ext cx="50154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동물병원 진료 분쟁을 SNS·책으로 알린 사건 — 형벌 필요성과 표현의 자유가 팽팽히 맞섬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221863"/>
            <a:ext cx="5463540" cy="290741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21863"/>
            <a:ext cx="82296" cy="29074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423031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대법원 2022.7.28. — 파기환송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3847846"/>
            <a:ext cx="50154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의료사고 유족의 전단지 배포 — 진실하고 공공의 이익이면 처벌하지 않는다(형법 310조)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76772" y="3221863"/>
            <a:ext cx="5463540" cy="2907411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3221863"/>
            <a:ext cx="82296" cy="290741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3423031"/>
            <a:ext cx="50154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폐지·축소 논의 (2026.10 기준)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3847846"/>
            <a:ext cx="5015484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형법 307조 1항은 1953년 제정 이후 한 번도 개정되지 않았습니다. 2025년 폐지안이 발의됐고, 2026년 7월에는 ‘사생활에 관한 중대한 비밀’ 공개만 처벌하자는 개정안이 발의됐지만 아직 국회를 통과하지 못했습니다. 인권위는 2026년 10월 판단을 보류했습니다. 지금은 처벌이 가능한 조항입니다.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1-2 · 명예훼손 사례 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허위사실 적시 명예훼손 — 검증 없는 폭로의 대가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5463540" cy="13237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6800"/>
            <a:ext cx="82296" cy="132372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537968"/>
            <a:ext cx="501548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밀양 사건 신상 공개 유튜버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931033"/>
            <a:ext cx="5015484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6월경 가해자 신상을 공개하면서 가해자가 아닌 사람까지 지목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6772" y="2336800"/>
            <a:ext cx="5463540" cy="13237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6772" y="2336800"/>
            <a:ext cx="82296" cy="132372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3660" y="2537968"/>
            <a:ext cx="501548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창원지법 2025.4.18. 선고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2931033"/>
            <a:ext cx="5015484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운영자 징역 3년, 영상 제작자 징역 2년 6개월 (정보통신망법·스토킹처벌법 위반)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25113"/>
            <a:ext cx="5463540" cy="23803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25113"/>
            <a:ext cx="82296" cy="238036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026281"/>
            <a:ext cx="501548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“공익” 주장은 받아들여지지 않음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419346"/>
            <a:ext cx="5015484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재판부: “사적 응징은 어떤 명분으로도 정당화될 수 없다” — 실질 동기는 광고 수익으로 판단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772" y="3825113"/>
            <a:ext cx="5463540" cy="23803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6772" y="3825113"/>
            <a:ext cx="82296" cy="238036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23660" y="4026281"/>
            <a:ext cx="501548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포인트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23660" y="4419346"/>
            <a:ext cx="5015484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객관적이고 충분한 검증 없이 단정하면 허위사실이 됩니다. 사실 적시는 ‘진실+공공의 이익’이면 면책될 수 있지만, 허위는 그렇지 않습니다. 그래서 기획서에 검증 계획을 먼저 적고, ⑥ 팩트체크를 거칩니다. (형법 307조 2항: 5년 이하 징역·10년 이하 자격정지 또는 1천만원 이하 벌금)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1-2 · 저작권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저작권 — 유튜브 Content ID 시스템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11091672" cy="911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35760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35760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708912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 ID 매칭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111248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영상이 저작권자 등록 콘텐츠와 일치하면 자동 감지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2620772"/>
            <a:ext cx="11091672" cy="911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20772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620772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693924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저작권자의 선택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096260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차단 / 수익 공유 / 시청 데이터 추적 중 선택 가능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3605784"/>
            <a:ext cx="11091672" cy="911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605784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605784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678936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저작권 위반 경고(스트라이크)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081272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 누적 시 채널 삭제 — AI 생성물도 원본 저작권 예외 아님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8640" y="4590796"/>
            <a:ext cx="11091672" cy="911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590796"/>
            <a:ext cx="868680" cy="911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590796"/>
            <a:ext cx="868680" cy="911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663948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이용(Fair Use)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066284"/>
            <a:ext cx="983894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비평·패러디·교육 목적이라도 자동 면책되지 않음 — 개별 판단 필요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1-2 · 초상권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초상권 — 얼굴과 목소리를 다룰 때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3587496" cy="31684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2600"/>
            <a:ext cx="82296" cy="316849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9537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동의 없는 촬영·공표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44208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타인의 얼굴·신체를 동의 없이 촬영해 공개하면 초상권 침해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752600"/>
            <a:ext cx="3587496" cy="31684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752600"/>
            <a:ext cx="82296" cy="316849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19537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합성·딥페이크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44208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실존 인물의 얼굴을 AI로 합성해 사용 시 초상권 + 명예훼손 이중 리스크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752600"/>
            <a:ext cx="3587496" cy="31684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752600"/>
            <a:ext cx="82296" cy="316849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195376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공인의 예외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44208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공적 인물도 사생활 영역까지 자유롭게 다룰 수 있는 것은 아님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1-3 · 표시광고법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표시광고법 체크리스트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752600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협찬·광고 여부를 영상 제목이 아닌 ‘본문 시작 전’ 명확히 표기했는가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91308"/>
            <a:ext cx="11091672" cy="67411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591308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텍스트는 배경과 구분되는 색·크기로, 최소 5초 이상 노출했는가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430016"/>
            <a:ext cx="11091672" cy="67411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430016"/>
            <a:ext cx="10689336" cy="674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 언급 시 시청자가 놓치지 않을 위치·속도로 고지했는가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4268724"/>
            <a:ext cx="11091672" cy="16170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68724"/>
            <a:ext cx="82296" cy="1617091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469892"/>
            <a:ext cx="1064361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‘내돈내산’처럼 광고를 협찬 아닌 것처럼 표현하지 않았는가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958207"/>
            <a:ext cx="1064361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공정위 《추천·보증 등에 관한 표시·광고 심사지침》 — 위반 시 광고주 시정명령·과징금 등 (표기 의무는 제작자도 준수)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1-4 · 미디어 리터러시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AI콘텐츠 시대의 미디어 리터러시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52600"/>
            <a:ext cx="11091672" cy="15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</a:t>
            </a:r>
            <a:endParaRPr lang="en-US" sz="3040" dirty="0"/>
          </a:p>
          <a:p>
            <a:pPr algn="l" indent="0" marL="0">
              <a:buNone/>
            </a:pPr>
            <a:r>
              <a:rPr lang="en-US" sz="304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</a:t>
            </a:r>
            <a:endParaRPr lang="en-US" sz="3040" dirty="0"/>
          </a:p>
          <a:p>
            <a:pPr algn="l" indent="0" marL="0">
              <a:buNone/>
            </a:pPr>
            <a:r>
              <a:rPr lang="en-US" sz="304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급증</a:t>
            </a:r>
            <a:endParaRPr lang="en-US" sz="3040" dirty="0"/>
          </a:p>
        </p:txBody>
      </p:sp>
      <p:sp>
        <p:nvSpPr>
          <p:cNvPr id="10" name="Shape 8"/>
          <p:cNvSpPr/>
          <p:nvPr/>
        </p:nvSpPr>
        <p:spPr>
          <a:xfrm>
            <a:off x="548640" y="3421685"/>
            <a:ext cx="11091672" cy="57505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421685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텍스트·이미지·영상 전 영역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61333"/>
            <a:ext cx="11091672" cy="5750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161333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 출처가 불분명한 콘텐츠를 소비자가 ‘진짜’로 오인하는 빈도 증가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900981"/>
            <a:ext cx="11091672" cy="57505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900981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 법적 의무는 AI 사업자 중심 — 하지만 오인될 수 있는 AI 제작물은 제작자가 먼저 밝히는 것이 원칙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640629"/>
            <a:ext cx="11091672" cy="575056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5640629"/>
            <a:ext cx="10689336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▸  소비자에게는 출처·워터마크·역검색 등 스스로 검증하는 습관이 요구됨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1-5 · 사례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윤리적 제작 사례 — 뉴스 · 브랜드 · 유튜브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577340"/>
            <a:ext cx="3587496" cy="3168498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77340"/>
            <a:ext cx="82296" cy="316849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77850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266823"/>
            <a:ext cx="313944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정정보도문을 기사와 동일한 노출 위치에 게재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577340"/>
            <a:ext cx="3587496" cy="3168498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577340"/>
            <a:ext cx="82296" cy="316849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177850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콘텐츠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26682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 모델 이미지에 ‘AI 생성’ 워터마크 명시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577340"/>
            <a:ext cx="3587496" cy="3168498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577340"/>
            <a:ext cx="82296" cy="316849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177850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266823"/>
            <a:ext cx="313944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협찬 문구를 영상 시작 3초 내 자막으로 고지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5120640" cy="512064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14400"/>
            <a:ext cx="5943600" cy="2388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7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시대의</a:t>
            </a:r>
            <a:endParaRPr lang="en-US" sz="5700" dirty="0"/>
          </a:p>
          <a:p>
            <a:pPr indent="0" marL="0">
              <a:buNone/>
            </a:pPr>
            <a:r>
              <a:rPr lang="en-US" sz="5700" b="1" spc="-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가짜뉴스 대응전략</a:t>
            </a:r>
            <a:endParaRPr lang="en-US" sz="5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8615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6583680" y="1737360"/>
            <a:ext cx="5056632" cy="254508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1737360"/>
            <a:ext cx="4572000" cy="254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가짜뉴스와 정보조작의 이해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딥페이크·AI 생성 허위정보 사례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AI 기반 팩트체크 원리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정보검증 전략 체크리스트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 제작자로서의 역할과 신뢰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2-1 · 개념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가짜뉴스, 세 가지로 구분해서 본다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3587496" cy="3987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4180"/>
            <a:ext cx="82296" cy="398780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9534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Misinformation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47087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오정보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2895727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틀린 정보지만 퍼뜨리는 사람은 사실이라 믿음 (악의 없음)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00728" y="1694180"/>
            <a:ext cx="3587496" cy="3987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0728" y="1694180"/>
            <a:ext cx="82296" cy="398780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7616" y="189534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Disinformation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4547616" y="2347087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허위정보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547616" y="2895727"/>
            <a:ext cx="3139440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거짓임을 알면서도 의도적으로 유포 (악의적 조작)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052816" y="1694180"/>
            <a:ext cx="3587496" cy="398780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52816" y="1694180"/>
            <a:ext cx="82296" cy="3987800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9704" y="189534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Malinformation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8299704" y="2347087"/>
            <a:ext cx="313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악용정보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299704" y="2895727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사실이지만 해를 끼칠 목적으로 맥락을 왜곡해 유포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2-2 · 사례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딥페이크 · AI 생성 허위정보의 확산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3587496" cy="31684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4180"/>
            <a:ext cx="82296" cy="316849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189534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 합성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38366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유명인 목소리를 복제해 허위 발언을 ‘사실처럼’ 유포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00728" y="1694180"/>
            <a:ext cx="3587496" cy="31684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0728" y="1694180"/>
            <a:ext cx="82296" cy="316849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47616" y="189534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합성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4547616" y="238366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실존 인물의 얼굴에 다른 행동을 합성 — 정치·연예 분야 악용 사례 다수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52816" y="1694180"/>
            <a:ext cx="3587496" cy="31684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2816" y="1694180"/>
            <a:ext cx="82296" cy="3168498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9704" y="1895348"/>
            <a:ext cx="313944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생성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8299704" y="2383663"/>
            <a:ext cx="313944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챗봇이 존재하지 않는 통계·인용을 ‘그럴듯하게’ 생성(할루시네이션)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2-3 · 팩트체크 도구 선택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의심하느냐에 따라 도구가 다릅니다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577340"/>
            <a:ext cx="11091672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77340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577340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650492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영상·이미지가 진짜인가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1991868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역검색 + 구글 AI 모드·Hive 확인 + 이상 징후 확인 → 검증 5단계 중 4·5단계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435352"/>
            <a:ext cx="11091672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435352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435352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508504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주장·수치가 맞는가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849880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NotebookLM에 1차 자료를 올려 대조 → 검증 5단계 중 1·2단계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293364"/>
            <a:ext cx="11091672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93364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293364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366516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어디서 나온 얘기인가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707892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검색(Perplexity 등)은 출처 후보를 찾는 발견용 — 근거는 직접 확인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151376"/>
            <a:ext cx="11091672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51376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151376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224528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①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565904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NotebookLM은 가짜 영상을 판별하지 못한다 — 올린 자료와 대조해 줄 뿐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5009388"/>
            <a:ext cx="11091672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009388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009388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082540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②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423916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도구도 단독 판정 근거가 되지 못한다 — 결론은 사람이 내리고 기록한다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2-4 · 영상 판별 사례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— “번지점프 줄이 끊긴 실제 사고 영상”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6800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36800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40995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주장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720848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산악지대 번지점프 중 줄이 끊겨 남성이 추락한 ‘실제 사고 영상’ (15초)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131312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31312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131312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204464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515360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 영상으로 판정 — 2025.12.28 인도 팩트체크 매체 보도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925824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25824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25824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998976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 경과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309872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2025.12.24 X에 최초 업로드 → 2026.9월 한국에서 재확산 (약 9개월 뒤)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720336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20336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720336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793488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탐지 도구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104384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Hive Moderation 83.4% AI 생성 판정, 다른 도구는 98% 판정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514848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514848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514848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58800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눈으로 본 단서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898896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 흐려지다 사라짐 · 인물과 장비 형태가 계속 바뀜 · 마지막에 과장된 먼지구름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2-4 · 영상 판별 방법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판별, 이렇게 따라 합니다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548640" y="1840230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40230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40230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913382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254758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장면 3~5컷 캡처 → 이미지 역검색 (구글 이미지·TinEye·네이버 스마트렌즈 등, 다음 장 참고)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698242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98242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698242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771394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 업로드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112770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오래된 게시물과 날짜를 찾는다 — 오래된 영상의 재확산인지 확인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556254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56254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556254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629406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판별 도구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970782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AI 모드에 질문하거나 Hive에 올려 AI 생성 확률 확인 — 둘 다 추정이므로 참고용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414266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14266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414266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487418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징후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828794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사라지는 물체, 변하는 형태, 어색한 물리 현상을 프레임 단위로 확인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5272278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272278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272278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345430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기록하기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686806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 생성으로 판단됨 (근거 3가지)”로 쓴다 — 100% 단정 표현은 피한다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2-4 · 영상 판별 도구 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역검색 도구 — 이름과 주소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11091672" cy="108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2600"/>
            <a:ext cx="868680" cy="108204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752600"/>
            <a:ext cx="86868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825752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이미지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167128"/>
            <a:ext cx="9838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images.google.com — 카메라 아이콘(구글 렌즈)으로 업로드 · 가장 쉬운 시작점 · AI 생성 여부도 질문 가능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11091672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07792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907792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980944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TinEye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322320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tineye.com — 같은 이미지가 어디에 먼저 올라왔는지 찾기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765804"/>
            <a:ext cx="11091672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65804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65804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838956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Bing 시각 검색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180332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bing.com/visualsearch — 구글과 결과가 달라서 교차 확인용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623816"/>
            <a:ext cx="11091672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23816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623816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696968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Yandex 이미지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038344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yandex.com/images — 얼굴·장소가 비슷한 이미지 검색에 쓰임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5481828"/>
            <a:ext cx="11091672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481828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481828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554980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스마트렌즈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896356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m.naver.com 또는 네이버 앱 검색창의 카메라 아이콘 — 국내 게시물 확인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2-4 · 영상 판별 도구 ②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AI 판별 도구 — 이름과 주소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48640" y="1752600"/>
            <a:ext cx="11091672" cy="9372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52600"/>
            <a:ext cx="868680" cy="9372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752600"/>
            <a:ext cx="8686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825752"/>
            <a:ext cx="98389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AI 모드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121408"/>
            <a:ext cx="9838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google.com → 검색창 ‘AI 모드’ → + 버튼으로 영상 파일 업로드 → “이 영상은 AI로 만들어진 것인가?” 질문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763012"/>
            <a:ext cx="11091672" cy="9372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63012"/>
            <a:ext cx="868680" cy="9372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763012"/>
            <a:ext cx="8686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836164"/>
            <a:ext cx="98389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Hive Moderation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131820"/>
            <a:ext cx="9838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thehive.ai/demos/ai-generated-content-detection — 영상·이미지·오디오를 올리면 AI 생성 확률과 의심 구간을 표시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773424"/>
            <a:ext cx="11091672" cy="6896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73424"/>
            <a:ext cx="868680" cy="689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773424"/>
            <a:ext cx="86868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846576"/>
            <a:ext cx="98389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구글 검색 도구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142232"/>
            <a:ext cx="98389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google.com → 검색 후 ‘도구 → 기간’ 설정으로 오래된 게시물 찾기 (최초 업로드 추적)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536186"/>
            <a:ext cx="11091672" cy="9372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536186"/>
            <a:ext cx="868680" cy="9372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536186"/>
            <a:ext cx="86868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609338"/>
            <a:ext cx="98389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Hive 사용 주의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904994"/>
            <a:ext cx="983894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촬영으로 보이는 영상이 AI 60.1%로 나온 사례 — 점수만으로 결론 내리지 않기 · 가입·유료 안내가 나올 수 있음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546598"/>
            <a:ext cx="11091672" cy="68961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546598"/>
            <a:ext cx="868680" cy="68961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546598"/>
            <a:ext cx="86868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619750"/>
            <a:ext cx="983894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꼭 기억하기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915406"/>
            <a:ext cx="983894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판단은 추정일 뿐 — 역검색·최초 업로드와 함께 확인 / 주소·화면은 바뀔 수 있음 / 결과 없음 ≠ 가짜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· 주장·수치 검증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NotebookLM으로 주장·수치 검증, 어떻게 작동하나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2484882" cy="1352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243738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196336"/>
            <a:ext cx="1973047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업로드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033522" y="2336800"/>
            <a:ext cx="384048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17570" y="2336800"/>
            <a:ext cx="2484882" cy="1352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3874" y="243738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3563874" y="3196336"/>
            <a:ext cx="1973047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입력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902452" y="2336800"/>
            <a:ext cx="384048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86500" y="2336800"/>
            <a:ext cx="2484882" cy="1352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2804" y="243738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 txBox="1"/>
          <p:nvPr/>
        </p:nvSpPr>
        <p:spPr>
          <a:xfrm>
            <a:off x="6432804" y="3196336"/>
            <a:ext cx="1973047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대조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771382" y="2336800"/>
            <a:ext cx="384048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55430" y="2336800"/>
            <a:ext cx="2484882" cy="1352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01734" y="2437384"/>
            <a:ext cx="197304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spc="-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5600" dirty="0"/>
          </a:p>
        </p:txBody>
      </p:sp>
      <p:sp>
        <p:nvSpPr>
          <p:cNvPr id="23" name="Text 21"/>
          <p:cNvSpPr txBox="1"/>
          <p:nvPr/>
        </p:nvSpPr>
        <p:spPr>
          <a:xfrm>
            <a:off x="9301734" y="3196336"/>
            <a:ext cx="1973047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제시 답변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548640" y="3853942"/>
            <a:ext cx="11091672" cy="1400556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853942"/>
            <a:ext cx="10689336" cy="1400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 방식: 업로드한 자료 ‘안에서만’ 답을 찾기 때문에, 모델이 자료에 없는 내용을 지어내는 할루시네이션 위험이 크게 줄어듭니다 — 이것이 RAG(검색증강생성)의 핵심 원리입니다.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· 주장·수치 검증 따라 하기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NotebookLM으로 팩트체크 — 이렇게 따라 합니다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2336800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6800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36800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409952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노트북 만들기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720848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notebooklm.google.com 접속 → 구글 계정 로그인 → ‘새 노트북’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131312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31312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131312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204464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추가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515360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검증에 쓸 원문 자료 올리기 — PDF, 구글 문서, 웹사이트 링크, 붙여넣은 텍스트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925824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25824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25824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998976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고르기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309872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출처(법령·판결·공식 발표)를 넣는다 — 의심되는 기사만 넣으면 검증이 안 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720336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20336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720336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793488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주장 쪼개기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104384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문장을 사실 하나씩 나눠 채팅창에 질문한다 (수치·날짜·인물 따로)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514848"/>
            <a:ext cx="11091672" cy="7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514848"/>
            <a:ext cx="868680" cy="721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514848"/>
            <a:ext cx="8686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588000"/>
            <a:ext cx="983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열어보기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898896"/>
            <a:ext cx="983894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답변의 인용 번호를 눌러 원문 해당 위치와 내 질문이 맞는지 직접 대조한다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· 주장·수치 검증 질문법과 한계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질문은 이렇게, 결과는 이렇게 읽는다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694180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94180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94180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767332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예시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139188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 자료에서 ○○의 근거 문장을 찾아줘. 없으면 ‘자료에 없음’이라고 답해줘”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692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15692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615692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688844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것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060700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인용된 위치가 질문과 실제로 맞는가 — 인용 번호가 있다고 정확한 것은 아님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537204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537204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537204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610356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①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982212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넣은 자료가 틀리면 답도 틀린다 — 자료 자체가 믿을 만한지는 따로 확인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4458716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58716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458716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531868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②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903724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자료에 없으면 판단하지 못한다 — ‘자료에 없음’은 ‘거짓’이라는 뜻이 아님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5380228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80228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380228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453380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③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825236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표·이미지가 많은 자료는 내용을 놓칠 수 있다 — 중요한 수치는 원문에서 다시 확인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108960" cy="3108960"/>
          </a:xfrm>
          <a:prstGeom prst="ellipse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2-5 · 주장·수치 검증 예시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— 기사 속 숫자, 이렇게 검증합니다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35760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35760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708912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확인할 주장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050288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기사: “A시가 청년에게 월 50만 원씩 6개월간 지원한다” (가상 예시)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493772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493772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493772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566924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올린 자료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908300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A시 청년지원 공고문 PDF — 1차 출처 (가상 예시)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351784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351784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351784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424936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766312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“지원 금액과 기간, 대상 연령의 근거 문장을 찾아줘. 없으면 ‘자료에 없음’이라고 답해줘”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209796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09796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209796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282948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답변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624324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“월 30만 원, 6개월, 만 19~34세 [1]” — 인용 [1]을 누르면 공고문 해당 문단이 열림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5067808"/>
            <a:ext cx="11091672" cy="784860"/>
          </a:xfrm>
          <a:prstGeom prst="rect">
            <a:avLst/>
          </a:prstGeom>
          <a:solidFill>
            <a:srgbClr val="F4F4F2"/>
          </a:solidFill>
          <a:ln w="12700">
            <a:solidFill>
              <a:srgbClr val="F4F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067808"/>
            <a:ext cx="868680" cy="7848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067808"/>
            <a:ext cx="8686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140960"/>
            <a:ext cx="98389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판정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482336"/>
            <a:ext cx="983894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기사의 50만 원 ≠ 공고문의 30만 원 → 기사 오류 의심, 담당 부서·원문 재확인 후 기록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11365992" y="0"/>
            <a:ext cx="822960" cy="822960"/>
          </a:xfrm>
          <a:prstGeom prst="rtTriangle">
            <a:avLst/>
          </a:prstGeom>
          <a:solidFill>
            <a:srgbClr val="D5D5D2"/>
          </a:solidFill>
          <a:ln w="12700">
            <a:solidFill>
              <a:srgbClr val="D5D5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F2551E"/>
          </a:solidFill>
          <a:ln w="12700">
            <a:solidFill>
              <a:srgbClr val="F255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D5D5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2-6 · 실전 체크리스트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96012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 소비자·제작자의 정보검증 5단계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635760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35760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35760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708912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확인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080768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출처인가, 재인용인가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2557272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57272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557272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630424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검증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002280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사실을 다루는 다른 매체가 있는가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478784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78784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478784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551936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맥락 확인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923792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언제·왜 작성되었는가, 맥락이 잘렸는가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4400296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00296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400296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473448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이미지·영상 역검색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845304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이미지가 다른 사건에서도 쓰였는가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48640" y="5321808"/>
            <a:ext cx="11091672" cy="848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321808"/>
            <a:ext cx="868680" cy="84836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321808"/>
            <a:ext cx="868680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394960"/>
            <a:ext cx="98389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생성 여부 확인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600200" y="5766816"/>
            <a:ext cx="983894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워터마크·메타데이터·탐지 도구로 확인했는가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55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657600" cy="3657600"/>
          </a:xfrm>
          <a:prstGeom prst="ellipse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55664"/>
            <a:ext cx="146304" cy="146304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528816"/>
            <a:ext cx="8412480" cy="0"/>
          </a:xfrm>
          <a:prstGeom prst="line">
            <a:avLst/>
          </a:prstGeom>
          <a:noFill/>
          <a:ln w="9525">
            <a:solidFill>
              <a:srgbClr val="1421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72600" y="6428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MBC 미디어캠퍼스 · 1주차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382512"/>
            <a:ext cx="484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실습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777240"/>
            <a:ext cx="868680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가짜뉴스 · 허위콘텐츠 구별 실습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739900"/>
            <a:ext cx="6035040" cy="1264920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739900"/>
            <a:ext cx="5577840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워크시트의 5개 사례를 검증 5단계로 판별하고, 영상·이미지는 역검색과 AI 판별 도구로, 주장·수치는 NotebookLM으로 확인해 기록합니다.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0" y="2011680"/>
            <a:ext cx="4782312" cy="2628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2011680"/>
            <a:ext cx="4782312" cy="73152"/>
          </a:xfrm>
          <a:prstGeom prst="rect">
            <a:avLst/>
          </a:prstGeom>
          <a:solidFill>
            <a:srgbClr val="14214F"/>
          </a:solidFill>
          <a:ln w="12700">
            <a:solidFill>
              <a:srgbClr val="1421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0" y="22402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551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예고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834640"/>
            <a:ext cx="423367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2주차 — 도메인에 맞는 뉴스 세팅하기 (1/3)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뉴스·브랜드·트렌드 도메인 기획, 도메인별 챗봇 만들기(Gemini Gems·Claude Projects)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214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[MBC 미디어캠퍼스] AI 기반 데이터 저널리스트 양성 과정 · 1주차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1주차 강의안</dc:title>
  <dc:subject>PptxGenJS Presentation</dc:subject>
  <dc:creator>PptxGenJS</dc:creator>
  <cp:lastModifiedBy>PptxGenJS</cp:lastModifiedBy>
  <cp:revision>1</cp:revision>
  <dcterms:created xsi:type="dcterms:W3CDTF">2026-10-16T01:44:34Z</dcterms:created>
  <dcterms:modified xsi:type="dcterms:W3CDTF">2026-10-16T01:44:34Z</dcterms:modified>
</cp:coreProperties>
</file>