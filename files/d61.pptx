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⑧ AI 기반 데이터 탐사보도 및 기사 자동화 + ⑥ 데이터 시각화 뉴스 콘텐츠 제작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058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정보프로그램</a:t>
            </a:r>
            <a:endParaRPr lang="en-US" sz="4400" dirty="0"/>
          </a:p>
          <a:p>
            <a:pPr indent="0" marL="0">
              <a:buNone/>
            </a:pPr>
            <a:r>
              <a:rPr lang="en-US" sz="44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완성·발표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3462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「이게 사실일까?」로 보는 완성법 + 시각화 착수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371600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605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167,738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29968" y="4160520"/>
            <a:ext cx="1078992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29968" y="416052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8,943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18688" y="4160520"/>
            <a:ext cx="850392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18688" y="4160520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178808" y="4160520"/>
            <a:ext cx="1060704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78808" y="416052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65.2%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37760"/>
            <a:ext cx="530352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믿기 힘든 이야기를 숫자로 확인한다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AI 기반 데이터 저널리스트 양성 과정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샘플 해부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목표 — 만들고, 검수하고, 발표한다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51660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851660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924812"/>
            <a:ext cx="983894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샘플로 완성 기준 확인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159508"/>
            <a:ext cx="983894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「이게 사실일까?」가 어떤 구조와 밀도로 만들어졌는지 눈으로 확인한다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487422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487422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487422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560574"/>
            <a:ext cx="983894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읽는 함정 피하기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2795270"/>
            <a:ext cx="983894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셌는지, 언제 기준인지, 분모는 무엇인지 — 발행 전에 스스로 점검한다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23184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123184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123184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196336"/>
            <a:ext cx="983894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제작물 완성하기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3431032"/>
            <a:ext cx="983894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아바타·음성·재연 컷을 표기 원칙에 맞게 만들어 하나의 프로그램으로 편집한다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58946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58946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758946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3832098"/>
            <a:ext cx="983894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 착수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4066794"/>
            <a:ext cx="983894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데이터로 Matplotlib·Seaborn과 Flourish 차트를 첫 번째로 만들어본다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467860"/>
            <a:ext cx="5463540" cy="1119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467860"/>
            <a:ext cx="82296" cy="111988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4669028"/>
            <a:ext cx="50154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프로젝트2 완성·발표 32h  (1~4일차)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4982718"/>
            <a:ext cx="501548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6772" y="4467860"/>
            <a:ext cx="5463540" cy="1119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6772" y="4467860"/>
            <a:ext cx="82296" cy="111988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23660" y="4669028"/>
            <a:ext cx="50154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시각화 8h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(5일차)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23660" y="5204968"/>
            <a:ext cx="501548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752338"/>
            <a:ext cx="11091672" cy="49250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5752338"/>
            <a:ext cx="10689336" cy="492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40시간의 배분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샘플 해부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033272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정보프로그램은 두 겹 구조 — 프로그램 안에 코너가 들어간다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507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4820"/>
            <a:ext cx="11091672" cy="5090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734820"/>
            <a:ext cx="10908792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· 프로그램 전체 (매거진 구조)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16988"/>
            <a:ext cx="1528572" cy="76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16988"/>
            <a:ext cx="152857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" y="2463292"/>
            <a:ext cx="111236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1260" y="2316988"/>
            <a:ext cx="1528572" cy="76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1260" y="2316988"/>
            <a:ext cx="152857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7564" y="2463292"/>
            <a:ext cx="111236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스튜디오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07564" y="2880868"/>
            <a:ext cx="111236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73880" y="2316988"/>
            <a:ext cx="1528572" cy="76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3880" y="2316988"/>
            <a:ext cx="152857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0184" y="2463292"/>
            <a:ext cx="111236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코너1 VCR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86500" y="2316988"/>
            <a:ext cx="1528572" cy="76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6500" y="2316988"/>
            <a:ext cx="152857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2804" y="2463292"/>
            <a:ext cx="111236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브릿지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99120" y="2316988"/>
            <a:ext cx="1528572" cy="76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9120" y="2316988"/>
            <a:ext cx="152857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45424" y="2463292"/>
            <a:ext cx="111236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코너2 VCR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111740" y="2316988"/>
            <a:ext cx="1528572" cy="7620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11740" y="2316988"/>
            <a:ext cx="152857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58044" y="2463292"/>
            <a:ext cx="111236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클로징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152140"/>
            <a:ext cx="11091672" cy="5090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3152140"/>
            <a:ext cx="10908792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 · 코너 VCR 내부 (6단계) — 결과 → 궁금증 → 비밀 공개 → 확인 → 정리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734308"/>
            <a:ext cx="3648456" cy="90868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734308"/>
            <a:ext cx="82296" cy="908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825748"/>
            <a:ext cx="34198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훅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4155313"/>
            <a:ext cx="34198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결과부터 보여주는 그림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그림으로 승부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70248" y="3734308"/>
            <a:ext cx="3648456" cy="90868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70248" y="3734308"/>
            <a:ext cx="82296" cy="908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07408" y="3825748"/>
            <a:ext cx="34198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궁금증 제기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407408" y="4155313"/>
            <a:ext cx="34198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"도대체 왜?"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자막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991856" y="3734308"/>
            <a:ext cx="3648456" cy="90868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91856" y="3734308"/>
            <a:ext cx="82296" cy="908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29016" y="3825748"/>
            <a:ext cx="34198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현장·인물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129016" y="4155313"/>
            <a:ext cx="34198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장소, 주인공 사연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CG 한 장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716145"/>
            <a:ext cx="3648456" cy="90868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4716145"/>
            <a:ext cx="82296" cy="908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5800" y="4807585"/>
            <a:ext cx="34198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과정 공개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85800" y="5137150"/>
            <a:ext cx="34198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정보의 핵심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비밀을 푸는 근거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270248" y="4716145"/>
            <a:ext cx="3648456" cy="90868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70248" y="4716145"/>
            <a:ext cx="82296" cy="908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407408" y="4807585"/>
            <a:ext cx="34198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체험·리액션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4407408" y="5137150"/>
            <a:ext cx="34198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체험, 반응으로 확인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현장·체험으로 검증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991856" y="4716145"/>
            <a:ext cx="3648456" cy="90868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91856" y="4716145"/>
            <a:ext cx="82296" cy="908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29016" y="4807585"/>
            <a:ext cx="34198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정리·마무리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8129016" y="5137150"/>
            <a:ext cx="34198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실용 정보로 닫기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실용 정보 + 출처 자막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48640" y="5697982"/>
            <a:ext cx="11091672" cy="5090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0080" y="5697982"/>
            <a:ext cx="10908792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 데이터는 궁금증을 만들고 결과를 정리하는 앞뒤에 쓰고, 가운데(과정·체험)는 현장 그림으로 채운다 — 그래야 정보프로그램의 속도감이 살아난다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샘플 해부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「이게 사실일까?」 — 이번 회 테마는 '물건'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3441192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3441192" cy="48310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757424"/>
            <a:ext cx="28337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 타이틀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73880" y="2611120"/>
            <a:ext cx="3441192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3880" y="2611120"/>
            <a:ext cx="3441192" cy="48310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0184" y="2757424"/>
            <a:ext cx="28337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 스튜디오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20184" y="3167380"/>
            <a:ext cx="283372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9120" y="2611120"/>
            <a:ext cx="3441192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9120" y="2611120"/>
            <a:ext cx="3441192" cy="48310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5424" y="2757424"/>
            <a:ext cx="28337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#3 코너1 VCR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438652"/>
            <a:ext cx="3441192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438652"/>
            <a:ext cx="3441192" cy="48310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3584956"/>
            <a:ext cx="28337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#4 브릿지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73880" y="3438652"/>
            <a:ext cx="3441192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3880" y="3438652"/>
            <a:ext cx="3441192" cy="48310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0184" y="3584956"/>
            <a:ext cx="28337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#5 코너2 VCR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99120" y="3438652"/>
            <a:ext cx="3441192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9120" y="3438652"/>
            <a:ext cx="3441192" cy="48310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45424" y="3584956"/>
            <a:ext cx="28337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#6 클로징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068064"/>
            <a:ext cx="5509260" cy="14261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068064"/>
            <a:ext cx="82296" cy="1426147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159504"/>
            <a:ext cx="5280660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코너1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444555"/>
            <a:ext cx="52806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유실물</a:t>
            </a:r>
            <a:endParaRPr lang="en-US" sz="19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4833175"/>
            <a:ext cx="5280660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방화역일까?"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유실물 16만 7,738건 중 1위는 5호선 방화역 8,943건 — 사람이 붐비는 역이 아니다. 이유는 종착역이라는 것.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31052" y="4068064"/>
            <a:ext cx="5509260" cy="14261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1052" y="4068064"/>
            <a:ext cx="82296" cy="1426147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8212" y="4159504"/>
            <a:ext cx="5280660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코너2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6268212" y="4444555"/>
            <a:ext cx="52806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광고 해외쇼핑몰 피해</a:t>
            </a:r>
            <a:endParaRPr lang="en-US" sz="1950" dirty="0"/>
          </a:p>
        </p:txBody>
      </p:sp>
      <p:sp>
        <p:nvSpPr>
          <p:cNvPr id="38" name="Text 36"/>
          <p:cNvSpPr txBox="1"/>
          <p:nvPr/>
        </p:nvSpPr>
        <p:spPr>
          <a:xfrm>
            <a:off x="6268212" y="4833175"/>
            <a:ext cx="5280660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"겨울바지가 왜 여름바지로 왔을까?"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올해 상반기 상담 359건, 피해자의 65.2%가 50대 이상. 광고와 다른 물건이 오고 환불은 거부.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567363"/>
            <a:ext cx="3648456" cy="6943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567363"/>
            <a:ext cx="82296" cy="694373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658803"/>
            <a:ext cx="3419856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콘셉트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980430"/>
            <a:ext cx="3419856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믿기 힘든 이야기를 숫자로 확인한다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270248" y="5567363"/>
            <a:ext cx="3648456" cy="6943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70248" y="5567363"/>
            <a:ext cx="82296" cy="694373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07408" y="5658803"/>
            <a:ext cx="3419856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4407408" y="5980430"/>
            <a:ext cx="3419856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아바타 MC 2인 (HeyGen)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991856" y="5567363"/>
            <a:ext cx="3648456" cy="6943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91856" y="5567363"/>
            <a:ext cx="82296" cy="694373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29016" y="5658803"/>
            <a:ext cx="3419856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조건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8129016" y="5980430"/>
            <a:ext cx="3419856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촬영 없이 데이터·공식 발표자료로 제작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샘플 해부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 VCR 6단계에 샘플을 대입해 보면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2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0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65799"/>
                <a:gridCol w="4481370"/>
                <a:gridCol w="4444503"/>
              </a:tblGrid>
              <a:tr h="3609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코너1  지하철 유실물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코너2  유튜브 광고 해외쇼핑몰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5755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지하철에 남은 기념품·빵 봉투 AI 재연 몽타주, "실제 접수된 유실물"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속 겨울바지 vs 배송된 얇은 바지 AI 재연 분할화면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5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궁금증 제기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16만 7,738건, 1위는 방화역 8,943건 — "왜 방화역일까?"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올해 상반기 상담 359건, 1월 31건에서 6월 142건으로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55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현장·인물 소개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유실물의 여정 흐름도 + 품목 막대그래프(지갑 36,387건 1위)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피해 사례(환급 30%→50%, 전액 거부) + 건당 평균 7만 849원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5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과정 공개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2~5위도 모두 종착역 → "접수된 곳 ≠ 잃어버린 곳"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연령 확인 339건 중 50대 이상 65.2%, 해외 사이트인데 국내 간편결제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55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체험·리액션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경찰민원24 검색 화면녹화 + 강의실 퀴즈(가장 안 찾아가는 물건은?)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쇼핑몰 목업 사업자 정보 확인 + 퀴즈(피해 유형 1위는?)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9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⑥ 정리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고객센터 1577-1234, 알릴 것 3가지 + 출처 자막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카드사 차지백(120~180일)·1372 상담 + 출처 자막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674360"/>
            <a:ext cx="11091672" cy="5750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5674360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서울교통공사 유실물 통계 발표, 서울시전자상거래센터·한국소비자원 상담 분석 (13주차 샘플 시나리오 참고)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숫자 읽는 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숫자를 읽기 전에, 무엇을 셌는지부터 본다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3587496" cy="438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189738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948940"/>
            <a:ext cx="318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접수된 곳 ≠ 잃어버린 곳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771900"/>
            <a:ext cx="318516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쓰면 오류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방화역 승객이 물건을 가장 많이 잃어버린다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쓴다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방화역은 발견돼 접수된 건수가 가장 많다 (종착역 점검 때 접수)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00728" y="1851660"/>
            <a:ext cx="3587496" cy="438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1896" y="189738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200" dirty="0"/>
          </a:p>
        </p:txBody>
      </p:sp>
      <p:sp>
        <p:nvSpPr>
          <p:cNvPr id="16" name="Text 14"/>
          <p:cNvSpPr txBox="1"/>
          <p:nvPr/>
        </p:nvSpPr>
        <p:spPr>
          <a:xfrm>
            <a:off x="4501896" y="294894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≠ 피해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01896" y="3406140"/>
            <a:ext cx="318516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쓰면 오류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피해 359건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쓴다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359건 ("피해 359건"으로 쓰지 않는다)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52816" y="1851660"/>
            <a:ext cx="3587496" cy="438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53984" y="189738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200" dirty="0"/>
          </a:p>
        </p:txBody>
      </p:sp>
      <p:sp>
        <p:nvSpPr>
          <p:cNvPr id="20" name="Text 18"/>
          <p:cNvSpPr txBox="1"/>
          <p:nvPr/>
        </p:nvSpPr>
        <p:spPr>
          <a:xfrm>
            <a:off x="8253984" y="2948940"/>
            <a:ext cx="318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시점을 섞지 않는다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253984" y="3406140"/>
            <a:ext cx="318516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쓰면 오류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2022년 인계율을 2025년 수치와 한 화면에 나란히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쓴다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"2022년 기준"을 붙이고 분리해서 보여준다 (의류 1,833/18,333건, 휴대전화 94.1%)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숫자 읽는 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033272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 전 숫자 점검표 — 팩트체크 실습에서 걸렸던 결함과 연결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507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4820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34820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734820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807972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셌는가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042668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발견·접수·상담·신고 — 세는 대상을 자막에 그대로 쓴다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370582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370582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370582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443734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기준인가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2678430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시점과 집계 기간을 확인하고 다른 해의 수치와 섞지 않는다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06344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006344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006344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079496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분모는 무엇인가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3314192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"연령 확인된 339건 기준"처럼 비율의 기준 건수를 밝힌다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42106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642106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642106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3715258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출처인가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3949954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발표자료·원 보도자료로 확인하고 자막에 출처를 넣는다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77868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277868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277868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4351020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지어낸 것은 없는가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600200" y="4585716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없는 코멘트·경험담·수치를 만들어 넣지 않았는지 훑는다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895342"/>
            <a:ext cx="11091672" cy="49250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4895342"/>
            <a:ext cx="10908792" cy="492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샘플에서 이렇게 막았다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461000"/>
            <a:ext cx="3648456" cy="8597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461000"/>
            <a:ext cx="82296" cy="85979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5552440"/>
            <a:ext cx="34198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 혼합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5866130"/>
            <a:ext cx="3419856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접수된 곳과 잃어버린 곳, 2022년과 2025년 수치를 한 문장에 섞지 않는다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70248" y="5461000"/>
            <a:ext cx="3648456" cy="8597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0248" y="5461000"/>
            <a:ext cx="82296" cy="85979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07408" y="5552440"/>
            <a:ext cx="34198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근거보다 세게 말하기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407408" y="5866130"/>
            <a:ext cx="3419856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2~5월 상담 수치를 못 구하면 1월·6월 두 막대만 쓰고 "급증 추세"라고 말하지 않는다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91856" y="5461000"/>
            <a:ext cx="3648456" cy="8597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91856" y="5461000"/>
            <a:ext cx="82296" cy="85979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129016" y="5552440"/>
            <a:ext cx="34198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지어낸 코멘트·경험담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129016" y="5866130"/>
            <a:ext cx="3419856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아바타에게 개인 경험담을 붙이지 않고, 학생 리액션 대사도 미리 정해주지 않는다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제작 워크플로우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0332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시나리오는 2단 표 — 왼쪽은 눈, 오른쪽은 귀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998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64030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64030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764030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837182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| 오디오 두 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071878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장면마다 화면에 무엇이 보이는지와 무엇이 들리는지를 나란히 적는다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399792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399792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399792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472944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코너는 6단계 소제목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2707640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훅 ~ ⑥ 정리 순서로 나눠 흐름이 끊기지 않는지 확인한다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35554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035554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035554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108706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통일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3343402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MC1·MC2 = 아바타 진행자, NA = 내레이션, ※ = 제작 시 주의·확인 사항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3028"/>
          <a:ext cx="11091672" cy="914400"/>
        </p:xfrm>
        <a:graphic>
          <a:graphicData uri="http://schemas.openxmlformats.org/drawingml/2006/table">
            <a:tbl>
              <a:tblPr/>
              <a:tblGrid>
                <a:gridCol w="5096226"/>
                <a:gridCol w="5995446"/>
              </a:tblGrid>
              <a:tr h="3609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영상 (VIDEO)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오디오 (AUDIO)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3609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궁금증 제기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5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숫자 CG: 카운터 0 → 167,738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NA: 지난해 서울 지하철 유실물은 16만 7,738건. 하루 약 460건, 3분마다 한 건꼴입니다.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609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방화역 역명판 CG + 8,943건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NA: 1위는 5호선 방화역. 한 해 8,943건이 이곳에 접수됐습니다.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9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체험·리액션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609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화면녹화: 경찰민원24 유실물 검색 + 우측 하단 MC1 아바타 PIP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MC1(보이스): 실제로 찾아보겠습니다. ※ 검색 결과 속 개인정보는 모자이크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48640" y="6106414"/>
            <a:ext cx="11091672" cy="49250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6106414"/>
            <a:ext cx="10908792" cy="492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샘플 시나리오의 행 (13주차_정보프로그램_샘플_시나리오)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제작 워크플로우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파이프라인 — 지금까지 배운 도구를 한 줄로 잇는다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1911096" cy="26289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1911096" cy="87172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75742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데이터·팩트체크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3556000"/>
            <a:ext cx="1456639" cy="168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구글시트·API 수집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AI챗봇으로 정제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 교차검증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459736" y="2611120"/>
            <a:ext cx="384048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843784" y="2611120"/>
            <a:ext cx="1911096" cy="26289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2611120"/>
            <a:ext cx="1911096" cy="5821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0088" y="2757424"/>
            <a:ext cx="145663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시나리오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2990088" y="3266440"/>
            <a:ext cx="1456639" cy="168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 표(영상|오디오)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방송뉴스원고작성봇 v1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검수 체크리스트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611120"/>
            <a:ext cx="384048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138928" y="2611120"/>
            <a:ext cx="1911096" cy="26289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8928" y="2611120"/>
            <a:ext cx="1911096" cy="5821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85232" y="2757424"/>
            <a:ext cx="145663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소스 제작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3266440"/>
            <a:ext cx="1456639" cy="168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HeyGen 아바타 MC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내레이션 음성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재연 컷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화면녹화·강의실 촬영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050024" y="2611120"/>
            <a:ext cx="384048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434072" y="2611120"/>
            <a:ext cx="1911096" cy="26289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4072" y="2611120"/>
            <a:ext cx="1911096" cy="5821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0376" y="2757424"/>
            <a:ext cx="145663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모션·편집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580376" y="3266440"/>
            <a:ext cx="1456639" cy="140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Effects 타이틀·CG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편집·자막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사운드 믹싱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45168" y="2611120"/>
            <a:ext cx="384048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729216" y="2611120"/>
            <a:ext cx="1911096" cy="26289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29216" y="2611120"/>
            <a:ext cx="1911096" cy="5821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75520" y="2757424"/>
            <a:ext cx="145663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검수·제출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3266440"/>
            <a:ext cx="1456639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표기 확인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숫자·출처 자막 확인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렌더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48640" y="5404612"/>
            <a:ext cx="11091672" cy="6080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5404612"/>
            <a:ext cx="1068933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만든 시나리오가 소스 제작의 주문서 — 표기·금지 사항은 시나리오 단계에서 ※로 미리 적어둔다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제작 워크플로우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만든 것은 AI라고 밝힌다 — 표기 원칙 4가지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11091672" cy="98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68680" cy="98552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11120"/>
            <a:ext cx="868680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68427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진행자 표기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995168"/>
            <a:ext cx="9838944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아바타 MC가 나오는 스튜디오 화면에는 내내 상단에 "AI 아바타 진행"을 표기한다. 내레이션은 MC와 구분되는 제3의 목소리를 쓴다.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69792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69792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69792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42944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재연 컷 표기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053840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만든 모든 재연 컷에 "AI 재연"을 표기한다. 실제 접수·상담 사례를 재연했더라도 마찬가지다.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464304"/>
            <a:ext cx="11091672" cy="98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64304"/>
            <a:ext cx="868680" cy="98552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464304"/>
            <a:ext cx="868680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537456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대상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848352"/>
            <a:ext cx="9838944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로고, 실존 인물 얼굴, 실제 업체명·도메인이 연상되는 화면은 만들지 않는다. 쇼핑몰은 가상 목업으로 만든다.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5522976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522976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522976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596128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지어내지 않기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5907024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아바타에게 개인 경험담을 붙이지 않는다. 화면녹화 속 개인정보는 모자이크 처리한다.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제작 워크플로우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강의실 촬영 — 퀴즈는 데이터에서, 반응은 진짜로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11091672" cy="5943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111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684272"/>
            <a:ext cx="983894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퀴즈를 데이터에서 만든다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934208"/>
            <a:ext cx="983894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정답은 반드시 출처가 있는 수치여야 한다. 보기는 4개.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632"/>
            <a:ext cx="11091672" cy="5943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78632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7863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351784"/>
            <a:ext cx="983894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반응을 촬영한다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601720"/>
            <a:ext cx="983894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샘플은 코너당 1회, 총 2회 촬영. 대사를 미리 정해주지 않는다.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46144"/>
            <a:ext cx="11091672" cy="5943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46144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946144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019296"/>
            <a:ext cx="983894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정답을 CG로 공개한다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269232"/>
            <a:ext cx="983894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정답과 함께 기준 연도·건수를 자막으로 밝힌다.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686808"/>
            <a:ext cx="5463540" cy="148780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686808"/>
            <a:ext cx="82296" cy="148780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" y="4887976"/>
            <a:ext cx="50154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코너1 퀴즈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" y="5180965"/>
            <a:ext cx="50154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주인이 가장 안 찾아가는 물건은?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5577205"/>
            <a:ext cx="50154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지갑  ② 휴대전화  ③ 가방  ④ 옷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④ 옷 — 2022년 기준 1만 8,333건 중 1,833건만 주인에게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6772" y="4686808"/>
            <a:ext cx="5463540" cy="148780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6772" y="4686808"/>
            <a:ext cx="82296" cy="148780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23660" y="4887976"/>
            <a:ext cx="50154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코너2 퀴즈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23660" y="5180965"/>
            <a:ext cx="50154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많이 접수된 피해 유형은?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423660" y="5577205"/>
            <a:ext cx="50154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허위·과장광고  ② 환불 거부  ③ 판매자 연락 두절  ④ 배송 문제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①과 ② 공동 1위 — 각 24.0%(86건)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제작 워크플로우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전에 인서트 리스트부터 뽑는다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844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8500"/>
          <a:ext cx="11091672" cy="914400"/>
        </p:xfrm>
        <a:graphic>
          <a:graphicData uri="http://schemas.openxmlformats.org/drawingml/2006/table">
            <a:tbl>
              <a:tblPr/>
              <a:tblGrid>
                <a:gridCol w="3563637"/>
                <a:gridCol w="1967502"/>
                <a:gridCol w="3593032"/>
                <a:gridCol w="1967502"/>
              </a:tblGrid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컷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표기·확인 사항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방화역 역명판 + 8,943건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 자막 삽입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노선도 핀 (2~5위 역)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"열차가 운행을 마치는 역"으로 표기되는지 확인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 열차 객실을 점검하는 직원 실루엣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재연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"AI 재연" 표기, 얼굴 없음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경찰민원24 유실물 검색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화면녹화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개인정보 모자이크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속 바지 vs 배송된 바지 분할화면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재연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"광고 / 실제 배송", "AI 재연" 표기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쇼핑몰 결제 화면·사업자 정보 영역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업체명·로고·도메인이 연상되지 않게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386070"/>
            <a:ext cx="11091672" cy="9052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5386070"/>
            <a:ext cx="106893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실패  오프닝·소개가 길어져 핵심 정보 구간(과정 공개)이 짧아진다 — 인서트는 과정 공개에 가장 많이 쓴다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일정과 발표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32시간 운영 일정 (권장안) + 5일차 시각화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1911096" cy="3521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51660"/>
            <a:ext cx="1911096" cy="1252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1997964"/>
            <a:ext cx="14566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1일차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데이터·시나리오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3177540"/>
            <a:ext cx="1456639" cy="219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수집·정제 마무리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 팩트체크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2단 표 초고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확인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2843784" y="1851660"/>
            <a:ext cx="1911096" cy="3521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43784" y="1851660"/>
            <a:ext cx="1911096" cy="932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0088" y="1997964"/>
            <a:ext cx="1456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2일차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제작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2857500"/>
            <a:ext cx="1456639" cy="250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확정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HeyGen 아바타·음성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재연 컷 제작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화면녹화·강의실 촬영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138928" y="1851660"/>
            <a:ext cx="1911096" cy="3521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851660"/>
            <a:ext cx="1911096" cy="932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1997964"/>
            <a:ext cx="1456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3일차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모션·편집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2857500"/>
            <a:ext cx="1456639" cy="219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 타이틀·CG 제작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편집·자막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사운드 믹싱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가편집본 완성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434072" y="1851660"/>
            <a:ext cx="1911096" cy="3521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4072" y="1851660"/>
            <a:ext cx="1911096" cy="932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0376" y="1997964"/>
            <a:ext cx="1456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4일차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검수·발표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2857500"/>
            <a:ext cx="1456639" cy="219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오전: 검수·수정·최종 렌더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오후: 완성작 상영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1분 + 질의응답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정리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9729216" y="1851660"/>
            <a:ext cx="1911096" cy="3521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1851660"/>
            <a:ext cx="1911096" cy="1252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0" y="1997964"/>
            <a:ext cx="14566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5일차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시각화 착수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3177540"/>
            <a:ext cx="1456639" cy="219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데이터 차트화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Matplotlib·Seaborn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Flourish 첫 차트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8h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548640" y="5537962"/>
            <a:ext cx="11091672" cy="64109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537962"/>
            <a:ext cx="10689336" cy="64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8h × 4일 = 프로젝트2 32h  /  5일차 8h = ⑥ 시각화 착수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일정과 발표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10332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발표는 상영 + 1분 설명 + 질의응답 — 상세는 별도 가이드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7998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64030"/>
            <a:ext cx="11091672" cy="49250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764030"/>
            <a:ext cx="10908792" cy="492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방식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29688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29688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329688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402840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완성작 상영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2637536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 전체를 상영한다 (분량 제한 없음)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65450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965450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965450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038602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 구두 설명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273298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주제를 고른 이유 ② 데이터 출처와 팩트체크 방법 ③ 가장 어려웠던 부분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01212"/>
            <a:ext cx="11091672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01212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601212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3674364"/>
            <a:ext cx="99486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질의응답·피드백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3909060"/>
            <a:ext cx="994867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동료·강사 피드백을 받아 프로젝트3 준비에 반영한다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218686"/>
            <a:ext cx="11091672" cy="49250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218686"/>
            <a:ext cx="10908792" cy="492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 (100점, 제안안)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84344"/>
            <a:ext cx="5509260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84344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784344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4857496"/>
            <a:ext cx="4366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기획·주제 선정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092192"/>
            <a:ext cx="436626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가설을 데이터로 검증할 수 있게 구체화했는가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20106"/>
            <a:ext cx="5509260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420106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420106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3400" dirty="0"/>
          </a:p>
        </p:txBody>
      </p:sp>
      <p:sp>
        <p:nvSpPr>
          <p:cNvPr id="37" name="Text 35"/>
          <p:cNvSpPr txBox="1"/>
          <p:nvPr/>
        </p:nvSpPr>
        <p:spPr>
          <a:xfrm>
            <a:off x="1600200" y="5493258"/>
            <a:ext cx="4366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데이터·팩트체크 충실도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600200" y="5727954"/>
            <a:ext cx="436626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수집·정제·팩트체크 근거가 명확한가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6055868"/>
            <a:ext cx="5509260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6055868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6055868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3400" dirty="0"/>
          </a:p>
        </p:txBody>
      </p:sp>
      <p:sp>
        <p:nvSpPr>
          <p:cNvPr id="42" name="Text 40"/>
          <p:cNvSpPr txBox="1"/>
          <p:nvPr/>
        </p:nvSpPr>
        <p:spPr>
          <a:xfrm>
            <a:off x="1600200" y="6129020"/>
            <a:ext cx="4366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시나리오·원고 완성도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600200" y="6363716"/>
            <a:ext cx="436626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 표, 원고 검수 체크리스트 준수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31052" y="4784344"/>
            <a:ext cx="5509260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31052" y="4784344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31052" y="4784344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3400" dirty="0"/>
          </a:p>
        </p:txBody>
      </p:sp>
      <p:sp>
        <p:nvSpPr>
          <p:cNvPr id="47" name="Text 45"/>
          <p:cNvSpPr txBox="1"/>
          <p:nvPr/>
        </p:nvSpPr>
        <p:spPr>
          <a:xfrm>
            <a:off x="7182612" y="4857496"/>
            <a:ext cx="4366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영상·편집 완성도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182612" y="5092192"/>
            <a:ext cx="436626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 VCR 6단계, 편집 완성도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31052" y="5420106"/>
            <a:ext cx="5509260" cy="562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31052" y="5420106"/>
            <a:ext cx="868680" cy="562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131052" y="5420106"/>
            <a:ext cx="868680" cy="5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3400" dirty="0"/>
          </a:p>
        </p:txBody>
      </p:sp>
      <p:sp>
        <p:nvSpPr>
          <p:cNvPr id="52" name="Text 50"/>
          <p:cNvSpPr txBox="1"/>
          <p:nvPr/>
        </p:nvSpPr>
        <p:spPr>
          <a:xfrm>
            <a:off x="7182612" y="5493258"/>
            <a:ext cx="4366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형식·표기 준수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7182612" y="5727954"/>
            <a:ext cx="436626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 구조, AI 표기 원칙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⑥ 시각화 착수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속 CG가 곧 데이터 시각화의 출발점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2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10080"/>
            <a:ext cx="11091672" cy="125387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10080"/>
            <a:ext cx="82296" cy="125387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111248"/>
            <a:ext cx="106436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유실물 품목별 접수 건수 (건)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599563"/>
            <a:ext cx="10643616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피해자 연령 (연령 확인된 339건 기준, %)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543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328543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쓴 차트 + "무엇을 셌는지" 자막 = 시각화와 팩트체크가 한 번에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⑥ 시각화 착수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도구는 세 가지 — 언제 무엇을 쓰는지 판단한다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3587496" cy="208216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2296" cy="208216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812288"/>
            <a:ext cx="3139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Matplotlib · Seaborn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105277"/>
            <a:ext cx="3139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· 구글 코랩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501517"/>
            <a:ext cx="313944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강사가 준비한 노트북에 내 데이터를 넣어 실행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탐색하며 정확한 정적 차트를 그릴 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폰트 설치 등 환경 설정이 노트북에 포함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00728" y="2611120"/>
            <a:ext cx="3587496" cy="208216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0728" y="2611120"/>
            <a:ext cx="82296" cy="208216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7616" y="2812288"/>
            <a:ext cx="3139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Flourish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47616" y="3105277"/>
            <a:ext cx="3139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노코드 · 웹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547616" y="3501517"/>
            <a:ext cx="313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표를 붙여 넣고 템플릿을 골라 만든다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방송용 인포그래픽·움직이는 차트에 적합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없이 빠르게 여러 안을 비교할 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52816" y="2611120"/>
            <a:ext cx="3587496" cy="208216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2816" y="2611120"/>
            <a:ext cx="82296" cy="208216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9704" y="2812288"/>
            <a:ext cx="3139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Effects · Photoshop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99704" y="3105277"/>
            <a:ext cx="3139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7주차에서 익힌 마감 도구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299704" y="3501517"/>
            <a:ext cx="313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차트를 방송 CG로 다듬어 화면에 얹는다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카운터·핀·강조 자막 등 모션 처리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프로그램의 그래픽 톤을 통일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57877"/>
            <a:ext cx="11091672" cy="5090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857877"/>
            <a:ext cx="1068933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고르는 기준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531485"/>
            <a:ext cx="2484882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531485"/>
            <a:ext cx="248488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" y="5677789"/>
            <a:ext cx="197304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→ 막대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17570" y="5531485"/>
            <a:ext cx="2484882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7570" y="5531485"/>
            <a:ext cx="248488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3874" y="5677789"/>
            <a:ext cx="197304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→ 원·도넛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86500" y="5531485"/>
            <a:ext cx="2484882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5531485"/>
            <a:ext cx="248488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2804" y="5677789"/>
            <a:ext cx="197304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 → 선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55430" y="5531485"/>
            <a:ext cx="2484882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55430" y="5531485"/>
            <a:ext cx="2484882" cy="490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01734" y="5677789"/>
            <a:ext cx="197304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→ 지도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⑥ 시각화 착수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5일차 실습 — 내 프로젝트 데이터로 차트 2개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· 프로젝트2 정보프로그램 완성·발표 + ⑥ 시각화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5463540" cy="10820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51660"/>
            <a:ext cx="868680" cy="10820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851660"/>
            <a:ext cx="86868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924812"/>
            <a:ext cx="4210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보여줄 숫자 고르기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266188"/>
            <a:ext cx="42108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프로젝트2에서 시청자에게 꼭 보여줄 숫자 1~2개를 고른다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006852"/>
            <a:ext cx="5463540" cy="10820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06852"/>
            <a:ext cx="868680" cy="10820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006852"/>
            <a:ext cx="86868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080004"/>
            <a:ext cx="4210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종류 정하기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421380"/>
            <a:ext cx="42108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비교·비율·변화·위치 중 무엇을 보여줄지 정하고 이유를 한 줄로 적는다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76772" y="1851660"/>
            <a:ext cx="5463540" cy="10820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6772" y="1851660"/>
            <a:ext cx="868680" cy="10820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6772" y="1851660"/>
            <a:ext cx="86868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228332" y="1924812"/>
            <a:ext cx="4210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도구로 그리기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28332" y="2266188"/>
            <a:ext cx="42108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코랩(Matplotlib·Seaborn)으로 1개, Flourish로 1개를 만든다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76772" y="3006852"/>
            <a:ext cx="5463540" cy="10820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6772" y="3006852"/>
            <a:ext cx="868680" cy="10820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6772" y="3006852"/>
            <a:ext cx="86868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7228332" y="3080004"/>
            <a:ext cx="4210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제목에 기준 밝히기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228332" y="3421380"/>
            <a:ext cx="42108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셌는지, 기준 시점, 분모를 차트 제목·자막에 넣는다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4235196"/>
            <a:ext cx="5463540" cy="197167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235196"/>
            <a:ext cx="82296" cy="197167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4436364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5일차 산출물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4824603"/>
            <a:ext cx="50154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2개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선택 이유 메모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" y="5708523"/>
            <a:ext cx="501548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176772" y="4235196"/>
            <a:ext cx="5463540" cy="1971675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6772" y="4235196"/>
            <a:ext cx="82296" cy="197167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23660" y="4436364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(14주차)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6423660" y="4861179"/>
            <a:ext cx="501548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Flourish로 방송급 인포그래픽을 완성하고 ⑥ 데이터 시각화 뉴스 콘텐츠 제작 48h를 마무리한다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13주차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 정리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548640" y="1611630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11630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1163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1733550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정보프로그램은 프로그램(1층) 안에 코너 VCR 6단계(2층)가 들어간 두 겹 구조다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2233422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33422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23342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355342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숫자는 읽기 전에 무엇을 셌는지, 언제 기준인지, 분모가 무엇인지부터 확인한다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5214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55214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85521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2977134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아바타·재연 컷은 반드시 표기하고, 로고·실존 인물·개인정보는 쓰지 않는다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3477006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477006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47700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598926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2단 표와 인서트 리스트로 시작하면 제작이 흔들리지 않는다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4098798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098798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09879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220718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5일차에는 내 데이터를 차트로 만들며 ⑥ 시각화를 시작한다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8640" y="4793742"/>
            <a:ext cx="11091672" cy="60807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793742"/>
            <a:ext cx="1068933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시간(14주차): ⑥ 데이터 시각화 마무리 — Flourish로 방송급 인포그래픽 완성 [⑥ 완료 48h]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13주차 강의안</dc:title>
  <dc:subject>PptxGenJS Presentation</dc:subject>
  <dc:creator>PptxGenJS</dc:creator>
  <cp:lastModifiedBy>PptxGenJS</cp:lastModifiedBy>
  <cp:revision>1</cp:revision>
  <dcterms:created xsi:type="dcterms:W3CDTF">2026-10-16T01:45:25Z</dcterms:created>
  <dcterms:modified xsi:type="dcterms:W3CDTF">2026-10-16T01:45:25Z</dcterms:modified>
</cp:coreProperties>
</file>