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사회·산업 이슈 시각화 · 기후·환경 시각화 · 경제·금융·소비 트렌드 분석 · 데이터 기반 스토리텔링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시사 다큐멘터리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착수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3462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말하는 문제를 한 사람의 시간으로 좁혀 보여준다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4188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04188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59736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59736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415284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15284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절정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70832" y="4160520"/>
            <a:ext cx="84582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70832" y="4160520"/>
            <a:ext cx="8458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37760"/>
            <a:ext cx="53035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인터뷰·촬영 영상은 모두 AI로 제작 — 그래서 '표기'와 '근거'가 작품의 신뢰를 만든다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· 이번 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목표 — 기획하고, 가상 인물을 설계하고, 러프컷까지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546354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68680" cy="889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11120"/>
            <a:ext cx="868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684272"/>
            <a:ext cx="42108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좁히기·기획서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64688"/>
            <a:ext cx="421081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인물·한 공간·한 시간대로 좁히고 '이 작품은 ○○을 통해 △△을 말한다'를 쓴다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73272"/>
            <a:ext cx="546354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73272"/>
            <a:ext cx="868680" cy="889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73272"/>
            <a:ext cx="868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646424"/>
            <a:ext cx="42108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인물 원칙 익히기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926840"/>
            <a:ext cx="421081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자료 낭독 / 가상 인물 재구성 / 금지 — 세 단계로 구분하고 화면에 표기한다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6772" y="2611120"/>
            <a:ext cx="546354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6772" y="2611120"/>
            <a:ext cx="868680" cy="889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6772" y="2611120"/>
            <a:ext cx="868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28332" y="2684272"/>
            <a:ext cx="42108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소스 제작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28332" y="2964688"/>
            <a:ext cx="421081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인물 인터뷰와 재구성 촬영 영상을 만들고 시나리오에 맞춰 정리한다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6772" y="3573272"/>
            <a:ext cx="546354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6772" y="3573272"/>
            <a:ext cx="868680" cy="889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6772" y="3573272"/>
            <a:ext cx="86868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7228332" y="3646424"/>
            <a:ext cx="42108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러프컷 완성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228332" y="3926840"/>
            <a:ext cx="421081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7시퀀스가 이어지는 러프컷을 만들어 10분 이내 분량을 점검한다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608576"/>
            <a:ext cx="3587496" cy="9947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608576"/>
            <a:ext cx="82296" cy="9947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4809744"/>
            <a:ext cx="313944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40h  (이번 주)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5171059"/>
            <a:ext cx="31394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00728" y="4608576"/>
            <a:ext cx="3587496" cy="9947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00728" y="4608576"/>
            <a:ext cx="82296" cy="9947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7616" y="4809744"/>
            <a:ext cx="313944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32h  완성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4547616" y="5171059"/>
            <a:ext cx="31394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52816" y="4608576"/>
            <a:ext cx="3587496" cy="9947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52816" y="4608576"/>
            <a:ext cx="82296" cy="9947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99704" y="4809744"/>
            <a:ext cx="313944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수료식 8h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8299704" y="5171059"/>
            <a:ext cx="31394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5767959"/>
            <a:ext cx="11091672" cy="5420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9808" y="5767959"/>
            <a:ext cx="10689336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프로젝트3 = 15주차 40h + 16주차 32h = 72h  /  16주차 나머지 8h는 수료식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프로젝트3 이해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프로젝트는 세 번, 난이도는 한 계단씩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844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8500"/>
            <a:ext cx="3587496" cy="23310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68500"/>
            <a:ext cx="82296" cy="23310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169668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589657"/>
            <a:ext cx="3139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107817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· 8~9주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1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리포트 형식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00728" y="1968500"/>
            <a:ext cx="3587496" cy="23310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0728" y="1968500"/>
            <a:ext cx="82296" cy="23310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7616" y="2169668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4547616" y="2589657"/>
            <a:ext cx="3139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4547616" y="3107817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 제한 없음 · 12~13주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2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매거진 구조 + 코너 VCR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52816" y="1968500"/>
            <a:ext cx="3587496" cy="23310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2816" y="1968500"/>
            <a:ext cx="82296" cy="23310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9704" y="2169668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</a:t>
            </a:r>
            <a:endParaRPr lang="en-US" sz="2300" dirty="0"/>
          </a:p>
        </p:txBody>
      </p:sp>
      <p:sp>
        <p:nvSpPr>
          <p:cNvPr id="23" name="Text 21"/>
          <p:cNvSpPr txBox="1"/>
          <p:nvPr/>
        </p:nvSpPr>
        <p:spPr>
          <a:xfrm>
            <a:off x="8299704" y="2589657"/>
            <a:ext cx="3139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 다큐멘터리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8299704" y="3107817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 이내 · 15~16주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3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선형 서사 (질문 → 답)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" y="4464177"/>
            <a:ext cx="11091672" cy="184950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64177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" y="4665345"/>
            <a:ext cx="1064361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파이프라인, 달라지는 것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5121910"/>
            <a:ext cx="1064361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→ 정제 → 팩트체크 → 스크립트화 → 영상화  는 그대로.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프로젝트3에서는 '한 사람의 이야기'와 '호흡'이 중심이 되고, 인터뷰·촬영을 AI로 만들기 때문에 무엇이 AI인지 밝히는 일이 제작의 일부가 된다.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프로젝트3 이해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다큐는 질문으로 시작해 호흡으로 붙잡는다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51660"/>
          <a:ext cx="11091672" cy="914400"/>
        </p:xfrm>
        <a:graphic>
          <a:graphicData uri="http://schemas.openxmlformats.org/drawingml/2006/table">
            <a:tbl>
              <a:tblPr/>
              <a:tblGrid>
                <a:gridCol w="2672146"/>
                <a:gridCol w="4047360"/>
                <a:gridCol w="4372167"/>
              </a:tblGrid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정보프로그램 (프로젝트2)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다큐멘터리 (프로젝트3)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결과(답)부터 보여줌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질문부터 던짐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이야기의 중심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정보 (비법·과정·가격)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인물과 그 삶의 의미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내레이션 · 자막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많음 — 궁금증 유발, 강조 자막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최소화 — 필요한 정보만, 인물·장소 표기 위주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인터뷰 길이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짧게 끊음 (1회 5~8초 내외)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길게 허용 (1회 15~20초까지)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컷 호흡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짧고 빠름, 인서트 다수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롱테이크, 현장음만으로 버티는 구간 허용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실용 정보 자막으로 정리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여운과 성찰, 프롤로그와 수미상관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773930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477393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정보프로그램은 속도와 명확성으로, 다큐는 호흡과 여운으로 시청자를 붙잡는다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프로젝트3 이해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다큐 7시퀀스와 10분의 시간 배분 (권장)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10080"/>
            <a:ext cx="248488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10080"/>
            <a:ext cx="2484882" cy="7193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056384"/>
            <a:ext cx="197304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프롤로그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702560"/>
            <a:ext cx="197304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상징 이미지 + 질문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17570" y="1910080"/>
            <a:ext cx="248488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7570" y="1910080"/>
            <a:ext cx="2484882" cy="7193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3874" y="2056384"/>
            <a:ext cx="197304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3874" y="2702560"/>
            <a:ext cx="197304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0:20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86500" y="1910080"/>
            <a:ext cx="248488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500" y="1910080"/>
            <a:ext cx="2484882" cy="7193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2804" y="2056384"/>
            <a:ext cx="197304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S#3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32804" y="2702560"/>
            <a:ext cx="197304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누구의 어떤 이야기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1:30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55430" y="1910080"/>
            <a:ext cx="248488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55430" y="1910080"/>
            <a:ext cx="2484882" cy="7193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01734" y="2056384"/>
            <a:ext cx="197304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S#4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본문① 전개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01734" y="2702560"/>
            <a:ext cx="197304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일상과 행위 관찰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171952"/>
            <a:ext cx="248488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171952"/>
            <a:ext cx="2484882" cy="7193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" y="3318256"/>
            <a:ext cx="197304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S#5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본문② 전환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" y="3964432"/>
            <a:ext cx="197304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사연·갈등·어려움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1:40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17570" y="3171952"/>
            <a:ext cx="248488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7570" y="3171952"/>
            <a:ext cx="2484882" cy="7193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3874" y="3318256"/>
            <a:ext cx="197304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S#6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본문③ 절정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63874" y="3964432"/>
            <a:ext cx="197304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감정의 정점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86500" y="3171952"/>
            <a:ext cx="248488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86500" y="3171952"/>
            <a:ext cx="2484882" cy="7193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32804" y="3318256"/>
            <a:ext cx="197304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S#7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에필로그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32804" y="3964432"/>
            <a:ext cx="197304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여운과 성찰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1:30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433824"/>
            <a:ext cx="11091672" cy="5255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4433824"/>
            <a:ext cx="10908792" cy="5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비율 (합계 10:00)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032502"/>
            <a:ext cx="554584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032502"/>
            <a:ext cx="554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103224" y="5032502"/>
            <a:ext cx="369722" cy="56692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03224" y="5032502"/>
            <a:ext cx="3697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472946" y="5032502"/>
            <a:ext cx="1663751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72946" y="5032502"/>
            <a:ext cx="16637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136697" y="5032502"/>
            <a:ext cx="2218334" cy="56692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136697" y="5032502"/>
            <a:ext cx="22183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S#4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355031" y="5032502"/>
            <a:ext cx="1848612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55031" y="5032502"/>
            <a:ext cx="18486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S#5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203643" y="5032502"/>
            <a:ext cx="2772918" cy="56692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203643" y="5032502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S#6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976561" y="5032502"/>
            <a:ext cx="1663751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976561" y="5032502"/>
            <a:ext cx="16637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S#7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48640" y="5672582"/>
            <a:ext cx="11091672" cy="52552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0080" y="5672582"/>
            <a:ext cx="10908792" cy="5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흐름: 질문 → 관찰 → 심화 → 절정 → 성찰   /   프롤로그와 에필로그는 짝으로 설계한다 (수미상관)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기획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주제는 좁힐수록 깊어진다 — 주제문 한 문장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5463540" cy="17225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82296" cy="1722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052828"/>
            <a:ext cx="50154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좁히기: 한 인물 · 한 공간 · 한 시간대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82393"/>
            <a:ext cx="501548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"전통시장"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"시장 떡집 할머니의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4시"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 자료의 예시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6772" y="1851660"/>
            <a:ext cx="5463540" cy="17225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1851660"/>
            <a:ext cx="82296" cy="1722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052828"/>
            <a:ext cx="50154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주제문 공식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382393"/>
            <a:ext cx="50154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작품은  ○○을 통해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△△을 말한다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= 한 인물·한 공간·한 시간대   △△ = 데이터가 가리키는 문제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38753"/>
            <a:ext cx="11091672" cy="5090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738753"/>
            <a:ext cx="1068933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다루는 분야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12361"/>
            <a:ext cx="54635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12361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412361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580001"/>
            <a:ext cx="42108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사회·산업 이슈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034153"/>
            <a:ext cx="54635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034153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034153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201793"/>
            <a:ext cx="42108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기후·환경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6772" y="4412361"/>
            <a:ext cx="54635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6772" y="4412361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6772" y="4412361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7228332" y="4580001"/>
            <a:ext cx="42108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경제·금융·소비 트렌드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6772" y="5034153"/>
            <a:ext cx="54635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5034153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6772" y="5034153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7228332" y="5201793"/>
            <a:ext cx="42108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 스토리텔링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5729097"/>
            <a:ext cx="11091672" cy="5090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5729097"/>
            <a:ext cx="1068933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분야에서 데이터를 먼저 찾고, 그 데이터가 가리키는 문제를 한 사람의 시간으로 좁힌다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기획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데이터는 문을 열고 닫고, 가운데는 사람이 채운다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3441192" cy="194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3441192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757424"/>
            <a:ext cx="2833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S#3 도입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296920"/>
            <a:ext cx="2833726" cy="941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CG 한 장으로 이 이야기가 왜 중요한지 연다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989832" y="2611120"/>
            <a:ext cx="384048" cy="194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73880" y="2611120"/>
            <a:ext cx="3441192" cy="194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3880" y="2611120"/>
            <a:ext cx="3441192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0184" y="2757424"/>
            <a:ext cx="2833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S#4~S#6 본문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520184" y="3296920"/>
            <a:ext cx="2833726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사람의 시간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인물의 일상·사연·절정 — 근거 데이터에서 확인된 유형 안에서만 구성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815072" y="2611120"/>
            <a:ext cx="384048" cy="194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99120" y="2611120"/>
            <a:ext cx="3441192" cy="194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9120" y="2611120"/>
            <a:ext cx="3441192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5424" y="2757424"/>
            <a:ext cx="2833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S#7 에필로그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345424" y="3296920"/>
            <a:ext cx="2833726" cy="941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근거로 돌아오기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변화의 추이나 남은 질문을 조용한 한 장으로 남긴다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8640" y="4716272"/>
            <a:ext cx="11091672" cy="15193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16272"/>
            <a:ext cx="82296" cy="15193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917440"/>
            <a:ext cx="1064361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다큐의 CG 원칙 (14주차에서 예고)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5374005"/>
            <a:ext cx="1064361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숫자 하나 · 화려한 효과 대신 절제 · 내레이션과 인물 이야기 사이에서 '근거'로만 쓴다 · 출처·기준 시점 자막은 반드시 남긴다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AI 인물·촬영 원칙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만든 인물은 세 단계로 나눠 다룬다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10080"/>
            <a:ext cx="3587496" cy="306133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10080"/>
            <a:ext cx="82296" cy="306133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111248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· 실제 자료 낭독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99487"/>
            <a:ext cx="31394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987167"/>
            <a:ext cx="31394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기사·보고서·공식 발표의 문장을 원문 그대로 AI 음성·아바타가 읽는다.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조건: 출처 자막 + 'AI 음성 낭독' 표기, 문장을 바꾸지 않는다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00728" y="1910080"/>
            <a:ext cx="3587496" cy="306133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0728" y="1910080"/>
            <a:ext cx="82296" cy="306133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7616" y="2111248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· 가상 인물 재구성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547616" y="2499487"/>
            <a:ext cx="31394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조건부 허용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547616" y="2987167"/>
            <a:ext cx="313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실존하지 않는 인물이, 통계·보고서로 확인된 사례 유형을 대신 말한다.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조건: 'AI 생성 가상 인물' 상시 표기, 근거 데이터 연결, 극적인 사연을 지어내지 않는다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52816" y="1910080"/>
            <a:ext cx="3587496" cy="306133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2816" y="1910080"/>
            <a:ext cx="82296" cy="306133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9704" y="2111248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 · 금지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299704" y="2499487"/>
            <a:ext cx="31394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 않는다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299704" y="2987167"/>
            <a:ext cx="313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실존 인물의 얼굴·목소리를 만들어 하지 않은 말을 시키기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인물 인터뷰를 실제 인터뷰처럼 보이게 하기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실제 사건·피해자의 재현, 실제 업체명·로고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5136007"/>
            <a:ext cx="11091672" cy="60807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5136007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시청자가 AI로 만든 것을 실제로 오해하는 순간, 다큐는 신뢰를 잃는다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AI 인물·촬영 원칙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표기 규칙 — 무엇이 AI인지 화면에서 밝힌다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998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64030"/>
          <a:ext cx="11091672" cy="914400"/>
        </p:xfrm>
        <a:graphic>
          <a:graphicData uri="http://schemas.openxmlformats.org/drawingml/2006/table">
            <a:tbl>
              <a:tblPr/>
              <a:tblGrid>
                <a:gridCol w="3246289"/>
                <a:gridCol w="3772767"/>
                <a:gridCol w="4072617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표기 (권장 문구)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 시간·위치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가상 인물 인터뷰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"AI 생성 가상 인물"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인물이 나오는 동안 계속 (하단 자막)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촬영 장면 (재구성 영상)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"AI 재구성 영상"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시퀀스 시작 시 + 화면 구석에 유지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자료 낭독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 + "AI 음성 낭독"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낭독 구간 동안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CG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출처·기준 시점·단위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CG가 나오는 동안 (14주차 규칙)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엔딩 크레딧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사용한 AI 도구와 제작 방식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마지막 화면에 명시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357622"/>
            <a:ext cx="11091672" cy="6410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5357622"/>
            <a:ext cx="10689336" cy="64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표기는 편집 마지막에 붙이지 않는다 — 시나리오 표의 '자막·표기' 칸에 처음부터 적어 둔다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AI 인물·촬영 원칙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인물 시트 — 인물은 데이터의 대표 사례다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11120"/>
          <a:ext cx="11091672" cy="914400"/>
        </p:xfrm>
        <a:graphic>
          <a:graphicData uri="http://schemas.openxmlformats.org/drawingml/2006/table">
            <a:tbl>
              <a:tblPr/>
              <a:tblGrid>
                <a:gridCol w="4150197"/>
                <a:gridCol w="6941475"/>
              </a:tblGrid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작성 방법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 (가명)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실존 인물과 겹치지 않는 가상의 이름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나이대·직업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특정 개인이 떠오르지 않는 수준으로 일반화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대변하는 근거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통계·보고서의 어떤 패턴을 대신 말하는가 (출처 필수)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인물의 상황 (3줄)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 데이터에서 확인된 유형 안에서만 구성한다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인터뷰 질문 3개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주제문과 연결되는 질문, 답변은 15~20초 안팎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표기·점검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'AI 생성 가상 인물' 문구·위치 / 실존 인물과 닮지 않았는가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441950"/>
            <a:ext cx="11091672" cy="13121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41950"/>
            <a:ext cx="82296" cy="131216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5533390"/>
            <a:ext cx="1086307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규칙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810504"/>
            <a:ext cx="10863072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경험담을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지어내지 않는다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6481064"/>
            <a:ext cx="108630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인물이 하는 말은 근거 데이터가 뒷받침하는 범위 안에서만. 자극적인 사연을 더하고 싶어질 때가 점검 시점이다.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AI 소스 제작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인터뷰·촬영 소스는 다섯 단계로 만든다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1911096" cy="15062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199796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스토리보드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796540"/>
            <a:ext cx="1456639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시퀀스별 컷 설계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43784" y="1851660"/>
            <a:ext cx="1911096" cy="15062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3784" y="185166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199796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기준 이미지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2796540"/>
            <a:ext cx="1456639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인물·공간 1장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138928" y="1851660"/>
            <a:ext cx="1911096" cy="15062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851660"/>
            <a:ext cx="1911096" cy="5821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1997964"/>
            <a:ext cx="145663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영상 클립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2506980"/>
            <a:ext cx="1456639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짧게 여러 개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434072" y="1851660"/>
            <a:ext cx="1911096" cy="15062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4072" y="185166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0376" y="199796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음성·립싱크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2796540"/>
            <a:ext cx="1456639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컷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729216" y="1851660"/>
            <a:ext cx="1911096" cy="15062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1851660"/>
            <a:ext cx="1911096" cy="5821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0" y="1997964"/>
            <a:ext cx="145663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표기·편집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2506980"/>
            <a:ext cx="1456639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러프컷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3522472"/>
            <a:ext cx="3587496" cy="2015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522472"/>
            <a:ext cx="82296" cy="2015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3723640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설계는 종이 위에서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4148455"/>
            <a:ext cx="313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표의 각 행을 컷 단위로 쪼갠다. 생성은 한 컷씩, 어떤 장면이 필요한지 정하고 시작한다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300728" y="3522472"/>
            <a:ext cx="3587496" cy="2015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00728" y="3522472"/>
            <a:ext cx="82296" cy="2015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7616" y="3723640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이미지가 핵심</a:t>
            </a:r>
            <a:endParaRPr lang="en-US" sz="2100" dirty="0"/>
          </a:p>
        </p:txBody>
      </p:sp>
      <p:sp>
        <p:nvSpPr>
          <p:cNvPr id="37" name="Text 35"/>
          <p:cNvSpPr txBox="1"/>
          <p:nvPr/>
        </p:nvSpPr>
        <p:spPr>
          <a:xfrm>
            <a:off x="4547616" y="4148455"/>
            <a:ext cx="3139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인물·공간마다 기준 이미지를 정해 두고 모든 클립이 그 이미지를 기준으로 만들어지게 한다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52816" y="3522472"/>
            <a:ext cx="3587496" cy="2015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52816" y="3522472"/>
            <a:ext cx="82296" cy="2015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99704" y="3723640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클립은 짧게</a:t>
            </a:r>
            <a:endParaRPr lang="en-US" sz="2100" dirty="0"/>
          </a:p>
        </p:txBody>
      </p:sp>
      <p:sp>
        <p:nvSpPr>
          <p:cNvPr id="41" name="Text 39"/>
          <p:cNvSpPr txBox="1"/>
          <p:nvPr/>
        </p:nvSpPr>
        <p:spPr>
          <a:xfrm>
            <a:off x="8299704" y="4148455"/>
            <a:ext cx="313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장면을 한 번에 만들지 않고 짧은 클립을 만들어 편집으로 잇는다. 컷어웨이(자료화면)를 섞는다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48640" y="5702935"/>
            <a:ext cx="11091672" cy="6080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9808" y="5702935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소스 제작은 3~4일차에 끝낸다 — 생성 대기 시간과 재생성 횟수를 감안한 일정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AI 소스 제작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생성물이 흔들릴 때의 대응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998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64030"/>
          <a:ext cx="11091672" cy="914400"/>
        </p:xfrm>
        <a:graphic>
          <a:graphicData uri="http://schemas.openxmlformats.org/drawingml/2006/table">
            <a:tbl>
              <a:tblPr/>
              <a:tblGrid>
                <a:gridCol w="4133333"/>
                <a:gridCol w="6958339"/>
              </a:tblGrid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클립마다 인물 얼굴이 달라진다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이미지를 모든 클립에 참조시키고, 컷 수를 줄여 같은 인물이 나오는 장면을 최소화한다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손·글자·간판이 깨진다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손 클로즈업과 글자가 보이는 장면을 시나리오 단계에서 피한다. 글자는 자막·CG로 얹는다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실존 인물·로고와 닮았다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결과물을 반드시 눈으로 확인하고, 닮으면 폐기한다 (C 단계 금지 원칙)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립싱크·표정이 어색하다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인터뷰 컷을 짧게 끊고, 사이사이 자료화면·재구성 컷을 섞는다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생성이 생각대로 안 나온다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프롬프트를 한 번에 하나만 바꿔 다시 시도. 이 소스가 꼭 필요한지도 다시 점검한다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860542"/>
            <a:ext cx="11091672" cy="49250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60542"/>
            <a:ext cx="10908792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완벽한 한 컷을 기다리지 말고, 편집으로 완성한다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기획서·시나리오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다큐 시나리오 표 — 표기와 근거를 칸으로 만든다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11120"/>
          <a:ext cx="11091672" cy="914400"/>
        </p:xfrm>
        <a:graphic>
          <a:graphicData uri="http://schemas.openxmlformats.org/drawingml/2006/table">
            <a:tbl>
              <a:tblPr/>
              <a:tblGrid>
                <a:gridCol w="1310053"/>
                <a:gridCol w="1181044"/>
                <a:gridCol w="1813417"/>
                <a:gridCol w="1922548"/>
                <a:gridCol w="1952409"/>
                <a:gridCol w="1424417"/>
                <a:gridCol w="1487783"/>
              </a:tblGrid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(영상·CG)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소리 (내레이션·인터뷰·음악)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자막·표기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소스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 자료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프롤로그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0:30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상징 이미지 1~2컷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질문을 던지는 짧은 내레이션 / 음악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(표기 있으면 기입)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· AI 재구성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 없음 또는 출처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1:30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인물·공간 소개 + 데이터 CG 한 장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인물 첫 발언 / 내레이션 최소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생성 가상 인물 · 출처·기준 시점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+ CG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통계·보고서 출처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2:30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인터뷰 + 결정적 장면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인물의 긴 발언 (15~20초)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생성 가상 인물 · AI 재구성 영상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· AI 재구성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 데이터 연결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…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736082"/>
            <a:ext cx="11091672" cy="5255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5736082"/>
            <a:ext cx="10689336" cy="5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'소스 유형' 칸에 A(실제 자료 낭독) / B(가상 인물 재구성) / CG를 표시하면 표기 누락과 원칙 위반을 시나리오 단계에서 잡을 수 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기획서·시나리오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제작 전 다섯 가지 관문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050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4550"/>
            <a:ext cx="5463540" cy="6261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14550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14550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87702"/>
            <a:ext cx="4210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주제문 한 문장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452878"/>
            <a:ext cx="421081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'이 작품은 ○○을 통해 △△을 말한다'가 써 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813812"/>
            <a:ext cx="5463540" cy="6261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13812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813812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886964"/>
            <a:ext cx="4210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인물·한 공간·한 시간대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152140"/>
            <a:ext cx="421081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주제가 충분히 좁혀졌다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13074"/>
            <a:ext cx="5463540" cy="6261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513074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13074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586226"/>
            <a:ext cx="4210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데이터·출처 확보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851402"/>
            <a:ext cx="421081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팩트체크(NotebookLM)와 숫자 5점검을 마쳤다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6772" y="2114550"/>
            <a:ext cx="5463540" cy="6261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6772" y="2114550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6772" y="2114550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7228332" y="2187702"/>
            <a:ext cx="4210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인물 시트 확인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228332" y="2452878"/>
            <a:ext cx="421081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데이터에서 출발했고 강사 확인을 받았다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6772" y="2813812"/>
            <a:ext cx="5463540" cy="6261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6772" y="2813812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6772" y="2813812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7228332" y="2886964"/>
            <a:ext cx="4210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반영 시나리오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228332" y="3152140"/>
            <a:ext cx="421081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유형·자막·표기 칸이 채워져 있다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285488"/>
            <a:ext cx="11091672" cy="19773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285488"/>
            <a:ext cx="82296" cy="197739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5528" y="4486656"/>
            <a:ext cx="106436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관문이 필요한가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95528" y="4795520"/>
            <a:ext cx="10643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고치는 비용은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소스를 만든 뒤가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훨씬 크다</a:t>
            </a:r>
            <a:endParaRPr lang="en-US" sz="2100" dirty="0"/>
          </a:p>
        </p:txBody>
      </p:sp>
      <p:sp>
        <p:nvSpPr>
          <p:cNvPr id="39" name="Text 37"/>
          <p:cNvSpPr txBox="1"/>
          <p:nvPr/>
        </p:nvSpPr>
        <p:spPr>
          <a:xfrm>
            <a:off x="795528" y="5847080"/>
            <a:ext cx="10643616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생성한 뒤 시나리오나 표기가 바뀌면 인물과 장면을 다시 만들어야 한다. 관문은 그 재작업을 막는다.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운영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40시간 운영 일정 (권장안)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050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455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1455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26085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059430"/>
            <a:ext cx="1456639" cy="196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선정·주제문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데이터·자료 수집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인물 시트 초안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초안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43784" y="211455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3784" y="2114550"/>
            <a:ext cx="1911096" cy="11612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2260854"/>
            <a:ext cx="14566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시나리오·관문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3348990"/>
            <a:ext cx="1456639" cy="196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7시퀀스 구성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다큐 시나리오 표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팩트체크·숫자 점검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관문 통과 (강사 확인)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138928" y="211455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211455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226085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소스 ①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3059430"/>
            <a:ext cx="1456639" cy="196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인물·공간 기준 이미지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클립·립싱크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재구성 영상 클립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규칙 적용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434072" y="211455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4072" y="211455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0376" y="226085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소스 ②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3059430"/>
            <a:ext cx="1456639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장면·자료화면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내레이션·음악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CG (14주차 기법)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목록 정리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729216" y="211455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211455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0" y="226085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러프컷·점검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3059430"/>
            <a:ext cx="1456639" cy="224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러프컷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시퀀스별 시간 점검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강사·동료 피드백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계획 수립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478272"/>
            <a:ext cx="11091672" cy="6080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478272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8h × 5일 = 40h   /   ⑨ 프로젝트3 = 15주차 40h + 16주차 32h = 72h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운영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 러프컷 점검표와 16주차 예고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998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· ⑨ 프로젝트3 시사 다큐멘터리 제작 · MBC 미디어캠퍼스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64030"/>
          <a:ext cx="11091672" cy="914400"/>
        </p:xfrm>
        <a:graphic>
          <a:graphicData uri="http://schemas.openxmlformats.org/drawingml/2006/table">
            <a:tbl>
              <a:tblPr/>
              <a:tblGrid>
                <a:gridCol w="3507656"/>
                <a:gridCol w="7584016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길이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 이내 (시퀀스별 시간 배분 참고)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7시퀀스가 모두 있고, 본문에 '전환'이 있는가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가상 인물·AI 재구성·AI 음성 낭독 표기가 빠지지 않았는가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CG마다 출처·기준 시점·단위가 있는가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미완성 소스 목록과 16주차 작업 순서를 적었는가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266182"/>
            <a:ext cx="11091672" cy="13121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266182"/>
            <a:ext cx="82296" cy="131216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5357622"/>
            <a:ext cx="1086307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(16주차)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634736"/>
            <a:ext cx="10863072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32h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수료식 8h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6305296"/>
            <a:ext cx="108630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편집·AE 모션·사운드·검수를 마치고, 수료식에서 프로젝트1·2·3을 함께 상영한다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 정리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548640" y="1611630"/>
            <a:ext cx="11091672" cy="81686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11630"/>
            <a:ext cx="868680" cy="81686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11630"/>
            <a:ext cx="8686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1684782"/>
            <a:ext cx="98389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프로젝트3는 질문으로 시작해 호흡으로 붙잡는 선형 서사 — 10분 안에 7시퀀스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501646"/>
            <a:ext cx="11091672" cy="548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01646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0164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608326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주제는 한 인물·한 공간·한 시간대로 좁히고, 주제문 한 문장으로 붙든다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23438"/>
            <a:ext cx="11091672" cy="81686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23438"/>
            <a:ext cx="868680" cy="81686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123438"/>
            <a:ext cx="8686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196590"/>
            <a:ext cx="98389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인물은 실제 자료 낭독 / 가상 인물 재구성 / 금지, 세 단계로 나눠 화면에 표기한다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4013454"/>
            <a:ext cx="11091672" cy="548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13454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01345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120134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인물은 데이터의 대표 사례 — 개인 경험담을 지어내지 않는다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4635246"/>
            <a:ext cx="11091672" cy="548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35246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63524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741926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관문(기획→시나리오→팩트체크→시트→표기)을 통과한 뒤 소스를 만든다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330190"/>
            <a:ext cx="11091672" cy="6410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5330190"/>
            <a:ext cx="10689336" cy="64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시간(16주차): 프로젝트3 완성 32h + 수료식 8h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15주차 강의안</dc:title>
  <dc:subject>PptxGenJS Presentation</dc:subject>
  <dc:creator>PptxGenJS</dc:creator>
  <cp:lastModifiedBy>PptxGenJS</cp:lastModifiedBy>
  <cp:revision>1</cp:revision>
  <dcterms:created xsi:type="dcterms:W3CDTF">2026-10-16T01:45:25Z</dcterms:created>
  <dcterms:modified xsi:type="dcterms:W3CDTF">2026-10-16T01:45:25Z</dcterms:modified>
</cp:coreProperties>
</file>