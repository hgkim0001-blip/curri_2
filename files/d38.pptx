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640080"/>
            <a:ext cx="5852160" cy="58521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182880"/>
            <a:ext cx="6766560" cy="676656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1097280"/>
            <a:ext cx="457200" cy="32004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0" y="3108960"/>
            <a:ext cx="548640" cy="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309360" y="4846320"/>
            <a:ext cx="457200" cy="27432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57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10주차 · ⑤ AI-Powered Python을 활용한 자동 팩트체킹 시스템 구성하기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005840"/>
            <a:ext cx="6035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빅데이터와 RAG, 할루시네이션 없는 콘텐츠 제작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 rot="-360000">
            <a:off x="5943600" y="2743200"/>
            <a:ext cx="5760720" cy="179070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 rot="-360000">
            <a:off x="6126480" y="2743200"/>
            <a:ext cx="5394960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AI-Powered Python 자동 팩트체킹 (I) — NotebookLM 노코드 활용법 핵심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10주차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10주차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LEARNING GOALS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시간 목표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40230"/>
            <a:ext cx="11091672" cy="911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40230"/>
            <a:ext cx="868680" cy="911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840230"/>
            <a:ext cx="868680" cy="911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1913382"/>
            <a:ext cx="9838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빅데이터 × 콘텐츠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315718"/>
            <a:ext cx="983894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대용량 데이터가 콘텐츠 제작과 어떻게 결합되는지 이해한다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2825242"/>
            <a:ext cx="11091672" cy="911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825242"/>
            <a:ext cx="868680" cy="911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825242"/>
            <a:ext cx="868680" cy="911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2898394"/>
            <a:ext cx="9838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할루시네이션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300730"/>
            <a:ext cx="983894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왜, 어떻게 사실을 지어내는지 원리를 이해한다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48640" y="3810254"/>
            <a:ext cx="11091672" cy="911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810254"/>
            <a:ext cx="868680" cy="911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810254"/>
            <a:ext cx="868680" cy="911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3883406"/>
            <a:ext cx="9838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개념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4285742"/>
            <a:ext cx="983894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기반으로 답하는 RAG 구조를 코드 없이 이해한다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48640" y="4795266"/>
            <a:ext cx="11091672" cy="911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795266"/>
            <a:ext cx="868680" cy="911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795266"/>
            <a:ext cx="868680" cy="911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4868418"/>
            <a:ext cx="9838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NotebookLM 실전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5270754"/>
            <a:ext cx="983894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노코드로 RAG 팩트체크를 직접 수행할 수 있다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097280"/>
            <a:ext cx="8686800" cy="86868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4480560"/>
            <a:ext cx="3291840" cy="329184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10주차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-182880" y="274320"/>
            <a:ext cx="60350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0" b="1" spc="-14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330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2286000"/>
            <a:ext cx="576072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빅데이터와 콘텐츠 제작의 결합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3901440"/>
            <a:ext cx="5486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데이터가 많아진 시대, 콘텐츠는 어떻게 달라지는가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10주차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지금 '빅데이터 + 콘텐츠'인가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548640" y="1752600"/>
            <a:ext cx="11091672" cy="176377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752600"/>
            <a:ext cx="10689336" cy="176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과거에는 기자·PD 한 명이 취재원 몇 명, 자료 몇 건을 손으로 확인하며 기사를 썼습니다.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지금은 공공데이터·API·소셜데이터가 실시간으로 쏟아지고, AI가 그 데이터를 몇 초 만에 요약합니다.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3680968"/>
            <a:ext cx="248488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680968"/>
            <a:ext cx="2484882" cy="134416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" y="3827272"/>
            <a:ext cx="197304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원자료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(공공데이터·API)</a:t>
            </a:r>
            <a:endParaRPr lang="en-US" sz="2300" dirty="0"/>
          </a:p>
        </p:txBody>
      </p:sp>
      <p:sp>
        <p:nvSpPr>
          <p:cNvPr id="14" name="Text 12"/>
          <p:cNvSpPr txBox="1"/>
          <p:nvPr/>
        </p:nvSpPr>
        <p:spPr>
          <a:xfrm>
            <a:off x="3033522" y="3680968"/>
            <a:ext cx="3840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417570" y="3680968"/>
            <a:ext cx="248488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17570" y="3680968"/>
            <a:ext cx="2484882" cy="6431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63874" y="3827272"/>
            <a:ext cx="1973047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요약·정리</a:t>
            </a:r>
            <a:endParaRPr lang="en-US" sz="2300" dirty="0"/>
          </a:p>
        </p:txBody>
      </p:sp>
      <p:sp>
        <p:nvSpPr>
          <p:cNvPr id="18" name="Text 16"/>
          <p:cNvSpPr txBox="1"/>
          <p:nvPr/>
        </p:nvSpPr>
        <p:spPr>
          <a:xfrm>
            <a:off x="5902452" y="3680968"/>
            <a:ext cx="3840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86500" y="3680968"/>
            <a:ext cx="248488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86500" y="3680968"/>
            <a:ext cx="2484882" cy="6431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32804" y="3827272"/>
            <a:ext cx="1973047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초안</a:t>
            </a:r>
            <a:endParaRPr lang="en-US" sz="2300" dirty="0"/>
          </a:p>
        </p:txBody>
      </p:sp>
      <p:sp>
        <p:nvSpPr>
          <p:cNvPr id="22" name="Text 20"/>
          <p:cNvSpPr txBox="1"/>
          <p:nvPr/>
        </p:nvSpPr>
        <p:spPr>
          <a:xfrm>
            <a:off x="8771382" y="3680968"/>
            <a:ext cx="3840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155430" y="3680968"/>
            <a:ext cx="248488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55430" y="3680968"/>
            <a:ext cx="2484882" cy="99364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01734" y="3827272"/>
            <a:ext cx="1973047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사람의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검증</a:t>
            </a:r>
            <a:endParaRPr lang="en-US" sz="2300" dirty="0"/>
          </a:p>
        </p:txBody>
      </p:sp>
      <p:sp>
        <p:nvSpPr>
          <p:cNvPr id="26" name="Shape 24"/>
          <p:cNvSpPr/>
          <p:nvPr/>
        </p:nvSpPr>
        <p:spPr>
          <a:xfrm>
            <a:off x="548640" y="5262880"/>
            <a:ext cx="11091672" cy="103733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9808" y="5262880"/>
            <a:ext cx="10689336" cy="1037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 데이터→콘텐츠 속도는 빨라졌지만, '사람의 최종 검증' 단계는 오히려 더 중요해졌습니다.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097280"/>
            <a:ext cx="8686800" cy="86868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4480560"/>
            <a:ext cx="3291840" cy="329184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10주차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-182880" y="274320"/>
            <a:ext cx="60350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0" b="1" spc="-14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330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2286000"/>
            <a:ext cx="576072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왜 사실을 지어내는가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3901440"/>
            <a:ext cx="5486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할루시네이션(Hallucination)의 원리와 실제 사례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10주차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할루시네이션이 생기는 이유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40230"/>
            <a:ext cx="11091672" cy="103733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840230"/>
            <a:ext cx="10689336" cy="1037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AI(LLM)는 '사실을 찾는' 것이 아니라 '다음에 올 가장 그럴듯한 단어'를 예측하는 방식으로 작동합니다.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3042158"/>
            <a:ext cx="11091672" cy="103733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3042158"/>
            <a:ext cx="10689336" cy="1037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그래서 모르는 내용도 '그럴듯하게' 채워 넣을 수 있습니다 — 거짓말을 하려는 게 아니라, 구조적으로 그렇게 만들어졌습니다.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44086"/>
            <a:ext cx="11091672" cy="103733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4244086"/>
            <a:ext cx="10689336" cy="1037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특히 '이 항목은 반드시 채워라'는 지시가 있는데 실제 근거가 없을 때, 지어낼 위험이 커집니다.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10주차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CASE STUDY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사례 — 방송대본 자동생성봇의 할루시네이션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2336800"/>
            <a:ext cx="11091672" cy="83921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336800"/>
            <a:ext cx="10689336" cy="839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실습: 추석 연휴 전국 기상예보 데이터를 도메인별 스크립트봇(뉴스 도메인)에 입력 → 3회 실행(젬스 2회, 노트북LM 1회)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340608"/>
            <a:ext cx="11091672" cy="57505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3340608"/>
            <a:ext cx="10689336" cy="575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결과: 소재에 없던 '기상청 관계자 코멘트'를 3번 모두 서로 다른 문장으로 지어냄 — 플랫폼과 무관하게 재현됨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080256"/>
            <a:ext cx="3587496" cy="185204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080256"/>
            <a:ext cx="82296" cy="185204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5528" y="4281424"/>
            <a:ext cx="313944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지시문 충돌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4674489"/>
            <a:ext cx="3139440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'코멘트를 반드시 포함하라' vs '없는 사실은 지어내지 말라' — 두 규칙이 충돌할 때 AI는 종종 전자를 택함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00728" y="4080256"/>
            <a:ext cx="3587496" cy="185204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00728" y="4080256"/>
            <a:ext cx="82296" cy="185204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47616" y="4281424"/>
            <a:ext cx="313944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 무관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4547616" y="4674489"/>
            <a:ext cx="31394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Gemini Gems·NotebookLM 등 도구가 달라도 같은 결함이 동일하게 재현됨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52816" y="4080256"/>
            <a:ext cx="3587496" cy="185204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52816" y="4080256"/>
            <a:ext cx="82296" cy="185204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99704" y="4281424"/>
            <a:ext cx="313944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해결책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8299704" y="4674489"/>
            <a:ext cx="31394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'없으면 없다고 표시하라'는 절대규칙을 지시문 최상단에 명시 → 재테스트에서 결함 미재현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097280"/>
            <a:ext cx="8686800" cy="86868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4480560"/>
            <a:ext cx="3291840" cy="329184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10주차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-182880" y="274320"/>
            <a:ext cx="60350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0" b="1" spc="-14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330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22860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RAG란 무엇인가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3291840"/>
            <a:ext cx="5486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Retrieval-Augmented Generation — 출처를 찾아본 뒤 답하는 방식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10주차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RAG의 작동 순서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40230"/>
            <a:ext cx="3441192" cy="175641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40230"/>
            <a:ext cx="3441192" cy="6431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" y="1986534"/>
            <a:ext cx="2833726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" y="2556510"/>
            <a:ext cx="2833726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입력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궁금한 것을 묻는다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3989832" y="1840230"/>
            <a:ext cx="384048" cy="1756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373880" y="1840230"/>
            <a:ext cx="3441192" cy="175641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73880" y="1840230"/>
            <a:ext cx="3441192" cy="6431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0184" y="1986534"/>
            <a:ext cx="2833726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4520184" y="2556510"/>
            <a:ext cx="2833726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자료 검색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업로드된 소스(문서) 중 관련 부분을 찾는다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7815072" y="1840230"/>
            <a:ext cx="384048" cy="1756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199120" y="1840230"/>
            <a:ext cx="3441192" cy="175641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99120" y="1840230"/>
            <a:ext cx="3441192" cy="64312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45424" y="1986534"/>
            <a:ext cx="2833726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2300" dirty="0"/>
          </a:p>
        </p:txBody>
      </p:sp>
      <p:sp>
        <p:nvSpPr>
          <p:cNvPr id="22" name="Text 20"/>
          <p:cNvSpPr txBox="1"/>
          <p:nvPr/>
        </p:nvSpPr>
        <p:spPr>
          <a:xfrm>
            <a:off x="8345424" y="2556510"/>
            <a:ext cx="2833726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근거와 함께 답변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찾은 부분을 근거로 답하고, 출처를 표시한다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548640" y="3761232"/>
            <a:ext cx="11091672" cy="103733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3761232"/>
            <a:ext cx="10689336" cy="1037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차이: 일반 LLM은 '기억'에서 답을 만들고, RAG는 '실제 문서'에서 찾아서 답한다.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10주차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LLM vs RAG — 무엇이 다른가</a:t>
            </a:r>
            <a:endParaRPr lang="en-US" sz="4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4180"/>
          <a:ext cx="11091672" cy="914400"/>
        </p:xfrm>
        <a:graphic>
          <a:graphicData uri="http://schemas.openxmlformats.org/drawingml/2006/table">
            <a:tbl>
              <a:tblPr/>
              <a:tblGrid>
                <a:gridCol w="3061079"/>
                <a:gridCol w="3325731"/>
                <a:gridCol w="4704862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일반 LLM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RAG (NotebookLM)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질문에 답하는 방식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학습된 '기억'에서 생성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업로드된 실제 문서에서 검색 후 생성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 표시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문장마다 [1][2]로 표시, 클릭하면 원본 확인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모르는 내용을 물으면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그럴듯하게 지어낼 위험 있음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관련 자료가 없으면 '자료에 없음'이라 답할 수 있음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대표 도구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일반 챗봇 대화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NotebookLM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097280"/>
            <a:ext cx="8686800" cy="868680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4480560"/>
            <a:ext cx="3291840" cy="329184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10주차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-182880" y="274320"/>
            <a:ext cx="60350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0" b="1" spc="-14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330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2286000"/>
            <a:ext cx="576072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NotebookLM 노코드 팩트체크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3901440"/>
            <a:ext cx="5486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업로드 → 질문만으로 출처 기반 답변받기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10주차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NotebookLM 사용 순서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40230"/>
            <a:ext cx="11091672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40230"/>
            <a:ext cx="868680" cy="87782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840230"/>
            <a:ext cx="868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1913382"/>
            <a:ext cx="9838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확인하고 싶은 자료(기사 원문, 데이터 CSV, 우리가 만든 지침 문서 등)를 '소스'로 업로드한다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" y="2791206"/>
            <a:ext cx="11091672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791206"/>
            <a:ext cx="868680" cy="87782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791206"/>
            <a:ext cx="868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2864358"/>
            <a:ext cx="9838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채팅창에 궁금한 것을 자연어로 묻는다 (예: '이 원고에서 확인 안 된 발언이 있어?')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48640" y="3742182"/>
            <a:ext cx="11091672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742182"/>
            <a:ext cx="868680" cy="87782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742182"/>
            <a:ext cx="868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3815334"/>
            <a:ext cx="9838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답변에 붙은 [1][2] 출처 번호를 클릭해 실제 소스의 어느 부분에서 나온 답인지 확인한다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548640" y="4693158"/>
            <a:ext cx="11091672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693158"/>
            <a:ext cx="868680" cy="87782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4693158"/>
            <a:ext cx="868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4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4766310"/>
            <a:ext cx="9838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출처가 없거나 이상한 곳에 붙어 있으면, 그 부분은 지어낸 내용일 가능성이 높다는 신호다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10주차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3주차 연계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응용: 지침 문서를 '소스'로 활용하기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1694180"/>
            <a:ext cx="11091672" cy="140055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694180"/>
            <a:ext cx="10689336" cy="1400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NotebookLM에는 Gemini Gems처럼 '지시사항'을 영구 저장하는 기능이 없습니다.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대신, 우리가 만든 지침 문서(예: 방송 뉴스 원고 작성봇 지침) 자체를 '소스'로 첨부하면 됩니다.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3259328"/>
            <a:ext cx="11091672" cy="16170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259328"/>
            <a:ext cx="82296" cy="161709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5528" y="3460496"/>
            <a:ext cx="1064361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실전 프롬프트 예시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3948811"/>
            <a:ext cx="10643616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"첨부된 [데이터]를 참조하여, 첨부된 [방송 뉴스 원고 작성봇 지침]에 따라 방송 뉴스 원고를 작성해줘."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10주차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Fact Check API · AI검색 그라운딩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1694180"/>
            <a:ext cx="5463540" cy="37496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694180"/>
            <a:ext cx="82296" cy="3749650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1895348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Fact Check API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383663"/>
            <a:ext cx="5015484" cy="145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다른 언론사·팩트체크기관이 검증해놓은 결과를 검색으로 불러오는 방식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Google Fact Check Tools — '이 주장, 이미 누가 검증했는지' 찾기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76772" y="1694180"/>
            <a:ext cx="5463540" cy="37496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6772" y="1694180"/>
            <a:ext cx="82296" cy="3749650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3660" y="1895348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AI검색 그라운딩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6423660" y="2383663"/>
            <a:ext cx="5015484" cy="145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답변 전에 실시간 웹 검색을 거쳐, 검색된 페이지를 근거로 답하는 방식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Perplexity, 검색 기능이 켜진 Gemini — 최신 정보·출처 확인에 강함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10주차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PRACTICE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실습 안내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40230"/>
            <a:ext cx="5463540" cy="4038676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40230"/>
            <a:ext cx="82296" cy="403867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2041398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1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493137"/>
            <a:ext cx="50154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방송대본 자동생성 팩트체크 실습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3498977"/>
            <a:ext cx="501548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3회 재현 사례를 워크시트로 직접 대조·검증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176772" y="1840230"/>
            <a:ext cx="5463540" cy="4038676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6772" y="1840230"/>
            <a:ext cx="82296" cy="403867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23660" y="2041398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2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6423660" y="2493137"/>
            <a:ext cx="50154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NotebookLM 체험 실습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423660" y="3041777"/>
            <a:ext cx="5015484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본인이 고른 자료를 업로드해 직접 질문하고 출처 확인해보기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10주차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486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핵심 정리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548640" y="1611630"/>
            <a:ext cx="11091672" cy="67411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1611630"/>
            <a:ext cx="10689336" cy="674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'기억'에서 그럴듯한 답을 만들 수 있어 할루시네이션이 생긴다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2450338"/>
            <a:ext cx="11091672" cy="67411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2450338"/>
            <a:ext cx="10689336" cy="674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RAG는 실제 문서를 찾아본 뒤 답하고, 출처를 표시한다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3289046"/>
            <a:ext cx="11091672" cy="67411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3289046"/>
            <a:ext cx="10689336" cy="674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NotebookLM은 코드 없이 RAG를 체험할 수 있는 도구다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4127754"/>
            <a:ext cx="11091672" cy="67411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4127754"/>
            <a:ext cx="10689336" cy="674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추적은 할루시네이션을 막지 못하지만, 발견하는 데는 강력하다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4966462"/>
            <a:ext cx="11091672" cy="67411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4966462"/>
            <a:ext cx="10689336" cy="674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시간(11주차): 도메인별 팩트체크 케이스스터디 + 영상 연계 후속 실습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10주차 강의안</dc:title>
  <dc:subject>PptxGenJS Presentation</dc:subject>
  <dc:creator>PptxGenJS</dc:creator>
  <cp:lastModifiedBy>PptxGenJS</cp:lastModifiedBy>
  <cp:revision>1</cp:revision>
  <dcterms:created xsi:type="dcterms:W3CDTF">2026-10-16T01:44:56Z</dcterms:created>
  <dcterms:modified xsi:type="dcterms:W3CDTF">2026-10-16T01:44:56Z</dcterms:modified>
</cp:coreProperties>
</file>