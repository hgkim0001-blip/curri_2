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640080"/>
            <a:ext cx="5852160" cy="5852160"/>
          </a:xfrm>
          <a:prstGeom prst="ellips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182880"/>
            <a:ext cx="6766560" cy="676656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09360" y="1097280"/>
            <a:ext cx="457200" cy="320040"/>
          </a:xfrm>
          <a:prstGeom prst="line">
            <a:avLst/>
          </a:prstGeom>
          <a:noFill/>
          <a:ln w="50800">
            <a:solidFill>
              <a:srgbClr val="1421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0" y="3108960"/>
            <a:ext cx="548640" cy="0"/>
          </a:xfrm>
          <a:prstGeom prst="line">
            <a:avLst/>
          </a:prstGeom>
          <a:noFill/>
          <a:ln w="50800">
            <a:solidFill>
              <a:srgbClr val="1421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6309360" y="4846320"/>
            <a:ext cx="457200" cy="274320"/>
          </a:xfrm>
          <a:prstGeom prst="line">
            <a:avLst/>
          </a:prstGeom>
          <a:noFill/>
          <a:ln w="50800">
            <a:solidFill>
              <a:srgbClr val="1421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4572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11주차 · ⑤ AI-Powered Python을 활용한 자동 팩트체킹 시스템 구성하기 [완료]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005840"/>
            <a:ext cx="6035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3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팩트체킹 심화 — 도메인별 케이스스터디와 콘텐츠 변환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 rot="-360000">
            <a:off x="5943600" y="2743200"/>
            <a:ext cx="5760720" cy="179070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 rot="-360000">
            <a:off x="6126480" y="2743200"/>
            <a:ext cx="5394960" cy="1790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AI-Powered Python 자동 팩트체킹 (II) — 브랜드·트렌드 케이스, 카드뉴스·자막 변환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11주차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11주차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REVIEW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지난주 복습 (10주차)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548640" y="1840230"/>
            <a:ext cx="3587496" cy="29291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1885950"/>
            <a:ext cx="3185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spc="-3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72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2937510"/>
            <a:ext cx="318516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AI는 '기억'에서 그럴듯한 답을 만들 수 있어 할루시네이션이 생긴다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300728" y="1840230"/>
            <a:ext cx="3587496" cy="29291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01896" y="1885950"/>
            <a:ext cx="3185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spc="-3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7200" dirty="0"/>
          </a:p>
        </p:txBody>
      </p:sp>
      <p:sp>
        <p:nvSpPr>
          <p:cNvPr id="14" name="Text 12"/>
          <p:cNvSpPr txBox="1"/>
          <p:nvPr/>
        </p:nvSpPr>
        <p:spPr>
          <a:xfrm>
            <a:off x="4501896" y="2937510"/>
            <a:ext cx="318516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RAG(NotebookLM)는 실제 문서를 찾아본 뒤 답하고 출처를 표시한다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8052816" y="1840230"/>
            <a:ext cx="3587496" cy="29291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53984" y="1885950"/>
            <a:ext cx="3185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spc="-3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7200" dirty="0"/>
          </a:p>
        </p:txBody>
      </p:sp>
      <p:sp>
        <p:nvSpPr>
          <p:cNvPr id="17" name="Text 15"/>
          <p:cNvSpPr txBox="1"/>
          <p:nvPr/>
        </p:nvSpPr>
        <p:spPr>
          <a:xfrm>
            <a:off x="8253984" y="2937510"/>
            <a:ext cx="318516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추적은 할루시네이션을 막지 못하지만, 발견하는 데는 강력하다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548640" y="4933950"/>
            <a:ext cx="11091672" cy="1037336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" y="4933950"/>
            <a:ext cx="10689336" cy="1037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오늘은 이 원칙을 '도메인이 다를 때도' 적용해보고, 검증된 사실을 다른 형식으로 옮기는 법을 배웁니다.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11주차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LEARNING GOALS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시간 목표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548640" y="1840230"/>
            <a:ext cx="11091672" cy="91186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840230"/>
            <a:ext cx="868680" cy="9118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840230"/>
            <a:ext cx="868680" cy="911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1913382"/>
            <a:ext cx="9838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도메인별 케이스스터디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2315718"/>
            <a:ext cx="9838944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뉴스·브랜드·트렌드마다 팩트체크 기준이 어떻게 다른지 이해한다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2825242"/>
            <a:ext cx="11091672" cy="91186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825242"/>
            <a:ext cx="868680" cy="9118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825242"/>
            <a:ext cx="868680" cy="911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2898394"/>
            <a:ext cx="9838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오류, 다른 포장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3300730"/>
            <a:ext cx="9838944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표현이 달라도 본질이 같은 오류를 알아보는 눈을 기른다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48640" y="3810254"/>
            <a:ext cx="11091672" cy="91186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810254"/>
            <a:ext cx="868680" cy="9118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3810254"/>
            <a:ext cx="868680" cy="911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3883406"/>
            <a:ext cx="9838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 변환 실습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4285742"/>
            <a:ext cx="9838944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검증된 사실을 카드뉴스·자막용으로 안전하게 옮기는 법을 익힌다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48640" y="4795266"/>
            <a:ext cx="11091672" cy="91186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795266"/>
            <a:ext cx="868680" cy="9118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4795266"/>
            <a:ext cx="868680" cy="911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3400" dirty="0"/>
          </a:p>
        </p:txBody>
      </p:sp>
      <p:sp>
        <p:nvSpPr>
          <p:cNvPr id="27" name="Text 25"/>
          <p:cNvSpPr txBox="1"/>
          <p:nvPr/>
        </p:nvSpPr>
        <p:spPr>
          <a:xfrm>
            <a:off x="1600200" y="4868418"/>
            <a:ext cx="9838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(선택) Claude Code 체험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1600200" y="5270754"/>
            <a:ext cx="9838944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자동화 데이터 정제의 개념을 맛본다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097280"/>
            <a:ext cx="8686800" cy="868680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4480560"/>
            <a:ext cx="3291840" cy="329184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11주차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-182880" y="274320"/>
            <a:ext cx="60350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0" b="1" spc="-14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3300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2286000"/>
            <a:ext cx="576072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도메인별 팩트체크 케이스 스터디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3901440"/>
            <a:ext cx="54864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데이터, 다른 도메인(뉴스·브랜드·트렌드) — 오류는 똑같이 나타났다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11주차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도메인마다 팩트체크 기준이 다르다</a:t>
            </a:r>
            <a:endParaRPr lang="en-US" sz="4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4180"/>
          <a:ext cx="11091672" cy="914400"/>
        </p:xfrm>
        <a:graphic>
          <a:graphicData uri="http://schemas.openxmlformats.org/drawingml/2006/table">
            <a:tbl>
              <a:tblPr/>
              <a:tblGrid>
                <a:gridCol w="2094603"/>
                <a:gridCol w="4990058"/>
                <a:gridCol w="4007011"/>
              </a:tblGrid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도메인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55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팩트체크 기준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55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특히 조심할 점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551E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뉴스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정확성 최우선. 확률·추측 표현을 확정처럼 쓰면 안 됨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관계자 코멘트, 방송사명 익명처리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브랜드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설득력 있게 쓰되, 과장 광고가 되지 않도록 사실 경계 유지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'~효과가 있습니다' 식 과장 표현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트렌드(숏폼)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재미·공감이 우선이지만, 밈처럼 포장해도 사실은 바뀌면 안 됨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재미있게 쓰다 보니 사실이 왜곡되는 경우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11주차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CASE STUDY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데이터, 3개 도메인에 넣었더니...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548640" y="1635760"/>
            <a:ext cx="11091672" cy="1763776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1635760"/>
            <a:ext cx="10689336" cy="176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10주차에 봤던 추석 연휴 기상 데이터를 뉴스·브랜드·트렌드 3개 도메인으로 각각 변환했습니다.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원본 사실: 강원영서 최저 14도(지역A) / 광주전남·대구경북 최고 30도(지역B) — 서로 다른 지역의 극값입니다.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3564128"/>
            <a:ext cx="11091672" cy="234353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564128"/>
            <a:ext cx="82296" cy="234353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95528" y="3765296"/>
            <a:ext cx="10643616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공통 오류</a:t>
            </a:r>
            <a:endParaRPr lang="en-US" sz="25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" y="4253611"/>
            <a:ext cx="10643616" cy="145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도메인 모두, 서로 다른 지역의 최저·최고기온을 마치 '한 지역의 하루 일교차'인 것처럼 묶어서 표현했습니다.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뉴스는 '큰 기온 차'로, 브랜드는 '늦더위 속에서도 쌀쌀한 아침'으로, 트렌드는 '일교차 레전드'로 — 표현만 다를 뿐 본질은 같은 사실 왜곡입니다.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11주차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케이스 A — 브랜드 도메인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548640" y="1840230"/>
            <a:ext cx="11091672" cy="176377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1840230"/>
            <a:ext cx="10689336" cy="176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"낮 최고 30도까지 오르는 늦더위 속에서도, 최저 14도의 쌀쌀한 아침 기온 속에서도 마음 편한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맞춤 옷차림을 준비할 수 있습니다. 제주도의 비 소식부터 지역별 일교차 정보까지..."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3768598"/>
            <a:ext cx="5463540" cy="19803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768598"/>
            <a:ext cx="82296" cy="198031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95528" y="3969766"/>
            <a:ext cx="501548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오류 1: 지역 혼합</a:t>
            </a:r>
            <a:endParaRPr lang="en-US" sz="25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" y="4458081"/>
            <a:ext cx="5015484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'30도'와 '14도'를 같은 문장에 붙여 마치 한 지역의 일교차처럼 표현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176772" y="3768598"/>
            <a:ext cx="5463540" cy="19803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6772" y="3768598"/>
            <a:ext cx="82296" cy="198031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23660" y="3969766"/>
            <a:ext cx="501548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오류 2: 확률의 완곡한 과장</a:t>
            </a:r>
            <a:endParaRPr lang="en-US" sz="2500" dirty="0"/>
          </a:p>
        </p:txBody>
      </p:sp>
      <p:sp>
        <p:nvSpPr>
          <p:cNvPr id="18" name="Text 16"/>
          <p:cNvSpPr txBox="1"/>
          <p:nvPr/>
        </p:nvSpPr>
        <p:spPr>
          <a:xfrm>
            <a:off x="6423660" y="4458081"/>
            <a:ext cx="5015484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강수확률 30%를 '비 소식'이라 표현 — 뉴스만큼 심하진 않지만 여전히 확정에 가까운 어감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11주차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케이스 B — 트렌드(숏폼) 도메인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548640" y="1752600"/>
            <a:ext cx="11091672" cy="1400556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1752600"/>
            <a:ext cx="10689336" cy="1400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"진짜 낮에는 최고 30도까지 올라서 덥고 아침저녁은 14도로 쌀쌀하잖아 😭 ... 감기 걸리기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딱 좋은 일교차 레전드 날씨임 ✨ 가디건 하나 필수 챙겨! 👍"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3317748"/>
            <a:ext cx="11091672" cy="19803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317748"/>
            <a:ext cx="82296" cy="198031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95528" y="3518916"/>
            <a:ext cx="10643616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더 위험할 수 있는가</a:t>
            </a:r>
            <a:endParaRPr lang="en-US" sz="25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" y="4007231"/>
            <a:ext cx="10643616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밈처럼 재미있게 포장할수록, 독자는 '이건 어차피 가벼운 콘텐츠'라며 사실 여부를 의심하지 않고 그대로 받아들이기 쉽습니다.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형식이 캐주얼해도 팩트체크 기준까지 캐주얼해지면 안 됩니다.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097280"/>
            <a:ext cx="8686800" cy="868680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4480560"/>
            <a:ext cx="3291840" cy="329184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11주차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-182880" y="274320"/>
            <a:ext cx="60350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0" b="1" spc="-14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3300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2286000"/>
            <a:ext cx="576072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검증된 사실을 다른 형식으로 옮기기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3901440"/>
            <a:ext cx="5486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자막 · 카드뉴스 변환 실습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11주차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형식이 바뀌어도 지켜야 하는 것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548640" y="1752600"/>
            <a:ext cx="3587496" cy="43462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1798320"/>
            <a:ext cx="3185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spc="-3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72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2849880"/>
            <a:ext cx="3185160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원문에 없는 사실은 절대 추가하지 않는다 (형식을 줄이는 것과 내용을 지어내는 것은 다르다)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300728" y="1752600"/>
            <a:ext cx="3587496" cy="43462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01896" y="1798320"/>
            <a:ext cx="3185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spc="-3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7200" dirty="0"/>
          </a:p>
        </p:txBody>
      </p:sp>
      <p:sp>
        <p:nvSpPr>
          <p:cNvPr id="14" name="Text 12"/>
          <p:cNvSpPr txBox="1"/>
          <p:nvPr/>
        </p:nvSpPr>
        <p:spPr>
          <a:xfrm>
            <a:off x="4501896" y="2849880"/>
            <a:ext cx="318516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숫자·수치는 원본과 정확히 일치해야 한다 (짧게 줄여도 값 자체는 바뀌면 안 됨)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8052816" y="1752600"/>
            <a:ext cx="3587496" cy="43462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53984" y="1798320"/>
            <a:ext cx="3185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spc="-3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7200" dirty="0"/>
          </a:p>
        </p:txBody>
      </p:sp>
      <p:sp>
        <p:nvSpPr>
          <p:cNvPr id="17" name="Text 15"/>
          <p:cNvSpPr txBox="1"/>
          <p:nvPr/>
        </p:nvSpPr>
        <p:spPr>
          <a:xfrm>
            <a:off x="8253984" y="2849880"/>
            <a:ext cx="318516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원문 문장을 그대로 베끼지 말고 새로운 표현으로 바꿔 쓴다 (저작권 확인이 먼저)</a:t>
            </a:r>
            <a:endParaRPr lang="en-US" sz="2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11주차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카드뉴스 변환 규칙 (3주차 가이드 연계)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548640" y="1635760"/>
            <a:ext cx="5463540" cy="2029054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635760"/>
            <a:ext cx="82296" cy="202905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1836928"/>
            <a:ext cx="501548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헤드라인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325243"/>
            <a:ext cx="5015484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원본 제목을 15자 내외로 임팩트 있게 재구성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176772" y="1635760"/>
            <a:ext cx="5463540" cy="2029054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6772" y="1635760"/>
            <a:ext cx="82296" cy="202905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23660" y="1836928"/>
            <a:ext cx="501548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강조 수치</a:t>
            </a:r>
            <a:endParaRPr lang="en-US" sz="2500" dirty="0"/>
          </a:p>
        </p:txBody>
      </p:sp>
      <p:sp>
        <p:nvSpPr>
          <p:cNvPr id="16" name="Text 14"/>
          <p:cNvSpPr txBox="1"/>
          <p:nvPr/>
        </p:nvSpPr>
        <p:spPr>
          <a:xfrm>
            <a:off x="6423660" y="2325243"/>
            <a:ext cx="5015484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본문에 나온 숫자 중 가장 핵심적인 것 하나만 선택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48640" y="3829406"/>
            <a:ext cx="5463540" cy="2029054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829406"/>
            <a:ext cx="82296" cy="202905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5528" y="4030574"/>
            <a:ext cx="501548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요약</a:t>
            </a:r>
            <a:endParaRPr lang="en-US" sz="25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4518889"/>
            <a:ext cx="5015484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1~2문장, 원문에 없는 사실 추가 금지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176772" y="3829406"/>
            <a:ext cx="5463540" cy="2029054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6772" y="3829406"/>
            <a:ext cx="82296" cy="202905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23660" y="4030574"/>
            <a:ext cx="501548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선정 기준</a:t>
            </a:r>
            <a:endParaRPr lang="en-US" sz="2500" dirty="0"/>
          </a:p>
        </p:txBody>
      </p:sp>
      <p:sp>
        <p:nvSpPr>
          <p:cNvPr id="24" name="Text 22"/>
          <p:cNvSpPr txBox="1"/>
          <p:nvPr/>
        </p:nvSpPr>
        <p:spPr>
          <a:xfrm>
            <a:off x="6423660" y="4518889"/>
            <a:ext cx="5015484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4개보다 많으면 4개만 골라 정리하고 기준을 한 줄로 설명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11주차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1285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실전 예시 — 검증된 데이터를 카드뉴스 문구로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548640" y="2336800"/>
            <a:ext cx="5353812" cy="244983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336800"/>
            <a:ext cx="5353812" cy="6431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4944" y="2483104"/>
            <a:ext cx="4555084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정답 데이터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" y="3053080"/>
            <a:ext cx="4555084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9/25 광주·전남 최고 30℃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9/24 강원영서 최저 14℃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제주도 강수확률 30%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5902452" y="2336800"/>
            <a:ext cx="384048" cy="2449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286500" y="2336800"/>
            <a:ext cx="5353812" cy="244983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86500" y="2336800"/>
            <a:ext cx="5353812" cy="6431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32804" y="2483104"/>
            <a:ext cx="4555084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카드뉴스 문구(정제됨)</a:t>
            </a:r>
            <a:endParaRPr lang="en-US" sz="2300" dirty="0"/>
          </a:p>
        </p:txBody>
      </p:sp>
      <p:sp>
        <p:nvSpPr>
          <p:cNvPr id="17" name="Text 15"/>
          <p:cNvSpPr txBox="1"/>
          <p:nvPr/>
        </p:nvSpPr>
        <p:spPr>
          <a:xfrm>
            <a:off x="6432804" y="3053080"/>
            <a:ext cx="4555084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헤드라인: "추석 연휴, 낮 30도 vs 아침 14도"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강조수치: 지역별 최대 16도 차이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요약: 지역별 기온차가 크니 겉옷을 챙기자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548640" y="4951222"/>
            <a:ext cx="11091672" cy="1037336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" y="4951222"/>
            <a:ext cx="10689336" cy="1037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주의: '최대 16도 차이'는 두 지역의 극값 차이지, 한 지역의 일교차가 아닙니다. 카드뉴스에도 '지역별'이라는 말을 반드시 넣어야 위 사례의 오류를 피할 수 있습니다.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11주차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선택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1285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(선택심화) Claude Code로 자동화 데이터 정제 체험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548640" y="2336800"/>
            <a:ext cx="11091672" cy="140055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2336800"/>
            <a:ext cx="10689336" cy="1400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지금까지는 챗봇 화면에서 붙여넣기로 데이터를 정제했습니다.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Code는 실제 코드 실행 환경에서, 대화하듯 지시만 내리면 AI가 직접 파일을 읽고 정제해주는 도구입니다.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3901948"/>
            <a:ext cx="11091672" cy="1037336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3901948"/>
            <a:ext cx="10689336" cy="1037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예: "이 CSV에서 결측치를 정리하고, 지역별로 그룹화해서 요약해줘"라고 말만 하면 코드를 직접 작성·실행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5103876"/>
            <a:ext cx="11091672" cy="103733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5103876"/>
            <a:ext cx="10689336" cy="1037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과정은 '노코드 활용법' 중심이라 깊게 다루지 않지만, Python 개념(변수·반복문)을 이미 배운 사람이라면 다음 단계로 시도해볼 만합니다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11주차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핵심 정리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1285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도메인마다 팩트체크 '기준'은 다르지만, '지어내면 안 된다'는 원칙은 같다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548640" y="2336800"/>
            <a:ext cx="11091672" cy="674116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2336800"/>
            <a:ext cx="10689336" cy="674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표현이 캐주얼해질수록(브랜드→트렌드) 오류를 알아채기 더 어려워질 수 있다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3175508"/>
            <a:ext cx="11091672" cy="67411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3175508"/>
            <a:ext cx="10689336" cy="674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형식을 바꿀 때(카드뉴스·자막)도 숫자·사실은 그대로, 표현만 바꾼다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014216"/>
            <a:ext cx="11091672" cy="674116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4014216"/>
            <a:ext cx="10689336" cy="674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 AI-Powered Python 자동 팩트체킹 과목, 이번 시간으로 완료(80h)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48640" y="4852924"/>
            <a:ext cx="11091672" cy="103733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4852924"/>
            <a:ext cx="10689336" cy="1037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시간(12주차): ⑧ AI 기반 데이터 탐사보도 — 프로젝트2(5분 정보다큐) 제작 착수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11주차 강의안</dc:title>
  <dc:subject>PptxGenJS Presentation</dc:subject>
  <dc:creator>PptxGenJS</dc:creator>
  <cp:lastModifiedBy>PptxGenJS</cp:lastModifiedBy>
  <cp:revision>1</cp:revision>
  <dcterms:created xsi:type="dcterms:W3CDTF">2026-10-16T01:44:15Z</dcterms:created>
  <dcterms:modified xsi:type="dcterms:W3CDTF">2026-10-16T01:44:15Z</dcterms:modified>
</cp:coreProperties>
</file>